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Our project detects Windows malware from static features of the executable, using the EMBER2024 Win64 data. We compare a LightGBM model that we tuned by hand with three AutoML tools: FLAML, AutoGluon and H2O. Our research question is whether the usual random train/test split overstates how well such a detector works on files that arrive later, and whether AutoML protects us from a leaky column or from drift.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detector is only useful on files it has not seen yet. EMBER2024 gives weekly files with labels, so we can test on later weeks. First finding: every weekly file lists each sample twice. Of 1,280,000 raw lines only 639,993 are unique, so we de-duplicate by sha256 before splitting; otherwise copies of one file land in both train and test. We sample 160,000 training rows and two 40,000-row test sets: a random one from the same weeks, and a future one from later weeks. Classes are 50/50 by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Raw files are de-duplicated and split once with seed 42, and the splits are saved so every step uses the same rows. Step 2 tunes LightGBM by grid search, random search and Optuna, 36 trials each on the same folds. Step 3 gives each AutoML tool the same training split and time budget. Step 4 is the critical evaluation: leakage, drift, real-world prevalence, the challenge set and SHAP. Step 5 serves the chosen model through an API and a Streamlit app.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Equal budget means every tuner gets exactly 36 LightGBM configurations, scored on the same three cross-validation folds of a 60,000-row subset of train. Optuna (TPE) had the best CV AUC, 0.9978, so it became our tuned model, refit on all of train and scored once on each test set. Tuning lifts test_future true-positive rate at 1% false-positive rate from 95.1% to 97.6%. The three tuners end within 0.00015 AUC of each other, so the search method mattered far less than tuning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Each AutoML tool got the same training split, ROC-AUC as the metric, 16 threads on the laptop and a 20-minute budget. On test_future AUC, AutoGluon is statistically tied with our tuned LightGBM, and FLAML and H2O AutoML are slightly worse; no tool is more than 0.0011 AUC away. The big difference is cost: AutoGluon took 20.2 minutes against 76.0 for the manual search we selected and its refit, with no search space to design. Every winner is in effect one gradient-boosted tree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question. By AUC the random split barely overstates: the tuned model loses only 0.0010 AUC on the future weeks, and every tree model loses between 0.0010 and 0.0014; only logistic regression loses 0.0632. The real overstatement is elsewhere. At a threshold fixed on train, the false-positive rate rises on future files, and the 50/50 test mix hides the base rate: at 1% malware, precision is 44.7% on future files. On the challenge set, malware that antivirus engines first missed, the model catches only 53.7%.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Leakage. We added detection_ratio, the share of antivirus engines that flagged the file, which is what the label is made from. Our tuned LightGBM and all three AutoML tools used it: 4 of 4 ranked it first by SHAP, test_future AUC went to about 1.0, and no tool dropped it or named it in a log. Their own validation also said 1.0. Only a human question about provenance catches this. The time leak, first_submission_date, moved AUC by at most 0.0009. These runs used a 600 s budget on a 4-core cloud VM.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on the tuned model. No family dominates: the top three are strings 17%, imports 15%, histogram 13% of the total. The three strongest single features are header: coff.char.DLL; authenticode: latest_signing_time; datadirectories: EXPORT.size. The COFF timestamp and signing-time columns matter, but removing them leaves the random-vs-future AUC gap about the same, 0.00101 versus 0.00107. Signature columns are also an attack surface: signed malware on test_future is caught 83.7% of the time, against 98.6% for unsigned malware.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The tuned LightGBM is served by a FastAPI service and a one-page Streamlit app that walks through the whole project; in its live demo you pick an example file or upload a program, and the page shows the verdict and, in plain words, which parts of the file pushed the decision. The threshold was chosen on train out-of-fold scores so that a missed malware costs 10 times a false alarm; on test_future that gives 99.5% recall at 7.4% false-positive rate, but at a realistic 1% malware share only about 12% of its alarms would be real malware. So it is a triage aid, not a blocker, and the app says so; the model card lists the limits.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AutoML matched or came close to manual tuning in a fraction of the time. The random split overstates mainly through the operating point and the 50/50 class mix, not through AUC. No tool protected us from a leaky column; that needs a person who asks where each column comes from. Our limits: static features only, 12 future weeks, one seed, no adversarial testing, and Step 4 ran on a smaller 4-core cloud VM.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46120"/>
            <a:ext cx="1828800" cy="73152"/>
          </a:xfrm>
          <a:prstGeom prst="rect">
            <a:avLst/>
          </a:prstGeom>
          <a:solidFill>
            <a:srgbClr val="E06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11247120" cy="1920240"/>
          </a:xfrm>
          <a:prstGeom prst="rect">
            <a:avLst/>
          </a:prstGeom>
          <a:noFill/>
        </p:spPr>
        <p:txBody>
          <a:bodyPr wrap="square" anchor="t">
            <a:spAutoFit/>
          </a:bodyPr>
          <a:lstStyle/>
          <a:p>
            <a:pPr algn="l">
              <a:spcAft>
                <a:spcPts val="800"/>
              </a:spcAft>
            </a:pPr>
            <a:r>
              <a:rPr sz="4000" b="1">
                <a:solidFill>
                  <a:srgbClr val="FFFFFF"/>
                </a:solidFill>
                <a:latin typeface="Calibri"/>
              </a:rPr>
              <a:t>Malware detection on EMBER2024 Win64 PE files:</a:t>
            </a:r>
          </a:p>
          <a:p>
            <a:pPr algn="l">
              <a:spcAft>
                <a:spcPts val="800"/>
              </a:spcAft>
            </a:pPr>
            <a:r>
              <a:rPr sz="4000" b="1">
                <a:solidFill>
                  <a:srgbClr val="FFFFFF"/>
                </a:solidFill>
                <a:latin typeface="Calibri"/>
              </a:rPr>
              <a:t>manual LightGBM tuning vs AutoML</a:t>
            </a:r>
          </a:p>
        </p:txBody>
      </p:sp>
      <p:sp>
        <p:nvSpPr>
          <p:cNvPr id="5" name="TextBox 4"/>
          <p:cNvSpPr txBox="1"/>
          <p:nvPr/>
        </p:nvSpPr>
        <p:spPr>
          <a:xfrm>
            <a:off x="457200" y="3520440"/>
            <a:ext cx="11247120" cy="1463040"/>
          </a:xfrm>
          <a:prstGeom prst="rect">
            <a:avLst/>
          </a:prstGeom>
          <a:noFill/>
        </p:spPr>
        <p:txBody>
          <a:bodyPr wrap="square" anchor="t">
            <a:spAutoFit/>
          </a:bodyPr>
          <a:lstStyle/>
          <a:p>
            <a:pPr algn="l">
              <a:spcAft>
                <a:spcPts val="800"/>
              </a:spcAft>
            </a:pPr>
            <a:r>
              <a:rPr sz="2200" b="0">
                <a:solidFill>
                  <a:srgbClr val="FFFFFF"/>
                </a:solidFill>
                <a:latin typeface="Calibri"/>
              </a:rPr>
              <a:t>Does a random train/test split overstate real-world performance, and does AutoML (FLAML, AutoGluon, H2O) protect against leakage and drift?</a:t>
            </a:r>
          </a:p>
        </p:txBody>
      </p:sp>
      <p:sp>
        <p:nvSpPr>
          <p:cNvPr id="6" name="TextBox 5"/>
          <p:cNvSpPr txBox="1"/>
          <p:nvPr/>
        </p:nvSpPr>
        <p:spPr>
          <a:xfrm>
            <a:off x="457200" y="5212080"/>
            <a:ext cx="11247120" cy="914400"/>
          </a:xfrm>
          <a:prstGeom prst="rect">
            <a:avLst/>
          </a:prstGeom>
          <a:noFill/>
        </p:spPr>
        <p:txBody>
          <a:bodyPr wrap="square" anchor="t">
            <a:spAutoFit/>
          </a:bodyPr>
          <a:lstStyle/>
          <a:p>
            <a:pPr algn="l">
              <a:spcAft>
                <a:spcPts val="800"/>
              </a:spcAft>
            </a:pPr>
            <a:r>
              <a:rPr sz="2000" b="0">
                <a:solidFill>
                  <a:srgbClr val="C9D1E0"/>
                </a:solidFill>
                <a:latin typeface="Calibri"/>
              </a:rPr>
              <a:t>Isaac Benjamin David (URK23AI1035)  |  IA-3 Part B: AutoML  |  seed 42 throughout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31520"/>
          </a:xfrm>
          <a:prstGeom prst="rect">
            <a:avLst/>
          </a:prstGeom>
          <a:noFill/>
        </p:spPr>
        <p:txBody>
          <a:bodyPr wrap="square" anchor="ctr">
            <a:spAutoFit/>
          </a:bodyPr>
          <a:lstStyle/>
          <a:p>
            <a:pPr algn="l">
              <a:spcAft>
                <a:spcPts val="800"/>
              </a:spcAft>
            </a:pPr>
            <a:r>
              <a:rPr sz="3000" b="1">
                <a:solidFill>
                  <a:srgbClr val="FFFFFF"/>
                </a:solidFill>
                <a:latin typeface="Calibri"/>
              </a:rPr>
              <a:t>Problem, data and a duplicate finding</a:t>
            </a:r>
          </a:p>
        </p:txBody>
      </p:sp>
      <p:sp>
        <p:nvSpPr>
          <p:cNvPr id="4" name="TextBox 3"/>
          <p:cNvSpPr txBox="1"/>
          <p:nvPr/>
        </p:nvSpPr>
        <p:spPr>
          <a:xfrm>
            <a:off x="457200" y="6446520"/>
            <a:ext cx="11277295" cy="320040"/>
          </a:xfrm>
          <a:prstGeom prst="rect">
            <a:avLst/>
          </a:prstGeom>
          <a:noFill/>
        </p:spPr>
        <p:txBody>
          <a:bodyPr wrap="square" anchor="t">
            <a:spAutoFit/>
          </a:bodyPr>
          <a:lstStyle/>
          <a:p>
            <a:pPr algn="l">
              <a:spcAft>
                <a:spcPts val="800"/>
              </a:spcAft>
            </a:pPr>
            <a:r>
              <a:rPr sz="1200" b="0">
                <a:solidFill>
                  <a:srgbClr val="5F6673"/>
                </a:solidFill>
                <a:latin typeface="Calibri"/>
              </a:rPr>
              <a:t>Source: reports/data_check.json, reports/tables/class_balance.csv</a:t>
            </a:r>
          </a:p>
        </p:txBody>
      </p:sp>
      <p:sp>
        <p:nvSpPr>
          <p:cNvPr id="5" name="TextBox 4"/>
          <p:cNvSpPr txBox="1"/>
          <p:nvPr/>
        </p:nvSpPr>
        <p:spPr>
          <a:xfrm>
            <a:off x="457200" y="1143000"/>
            <a:ext cx="5669280" cy="5120640"/>
          </a:xfrm>
          <a:prstGeom prst="rect">
            <a:avLst/>
          </a:prstGeom>
          <a:noFill/>
        </p:spPr>
        <p:txBody>
          <a:bodyPr wrap="square" anchor="t">
            <a:spAutoFit/>
          </a:bodyPr>
          <a:lstStyle/>
          <a:p>
            <a:pPr algn="l">
              <a:spcAft>
                <a:spcPts val="800"/>
              </a:spcAft>
            </a:pPr>
            <a:r>
              <a:rPr sz="2000" b="1">
                <a:solidFill>
                  <a:srgbClr val="1F2A44"/>
                </a:solidFill>
                <a:latin typeface="Calibri"/>
              </a:rPr>
              <a:t>Problem: </a:t>
            </a:r>
            <a:r>
              <a:rPr sz="2000" b="0">
                <a:solidFill>
                  <a:srgbClr val="1F2A44"/>
                </a:solidFill>
                <a:latin typeface="Calibri"/>
              </a:rPr>
              <a:t>static malware detection for Windows 64-bit PE files, before they run.</a:t>
            </a:r>
          </a:p>
          <a:p>
            <a:pPr algn="l">
              <a:spcAft>
                <a:spcPts val="800"/>
              </a:spcAft>
            </a:pPr>
            <a:r>
              <a:rPr sz="2000" b="1">
                <a:solidFill>
                  <a:srgbClr val="1F2A44"/>
                </a:solidFill>
                <a:latin typeface="Calibri"/>
              </a:rPr>
              <a:t>Why it matters: </a:t>
            </a:r>
            <a:r>
              <a:rPr sz="2000" b="0">
                <a:solidFill>
                  <a:srgbClr val="1F2A44"/>
                </a:solidFill>
                <a:latin typeface="Calibri"/>
              </a:rPr>
              <a:t>new malware keeps arriving; a score on old files can flatter a detector.</a:t>
            </a:r>
          </a:p>
          <a:p>
            <a:pPr algn="l">
              <a:spcAft>
                <a:spcPts val="800"/>
              </a:spcAft>
            </a:pPr>
            <a:r>
              <a:rPr sz="2000" b="1">
                <a:solidFill>
                  <a:srgbClr val="1F2A44"/>
                </a:solidFill>
                <a:latin typeface="Calibri"/>
              </a:rPr>
              <a:t>Data: </a:t>
            </a:r>
            <a:r>
              <a:rPr sz="2000" b="0">
                <a:solidFill>
                  <a:srgbClr val="1F2A44"/>
                </a:solidFill>
                <a:latin typeface="Calibri"/>
              </a:rPr>
              <a:t>EMBER2024 Win64, 2,568 static features in 12 families (imports, strings, headers, signatures, ...).</a:t>
            </a:r>
          </a:p>
          <a:p>
            <a:pPr algn="l">
              <a:spcAft>
                <a:spcPts val="800"/>
              </a:spcAft>
            </a:pPr>
            <a:r>
              <a:rPr sz="2000" b="1">
                <a:solidFill>
                  <a:srgbClr val="1F2A44"/>
                </a:solidFill>
                <a:latin typeface="Calibri"/>
              </a:rPr>
              <a:t>Duplicate finding: </a:t>
            </a:r>
            <a:r>
              <a:rPr sz="2000" b="0">
                <a:solidFill>
                  <a:srgbClr val="1F2A44"/>
                </a:solidFill>
                <a:latin typeface="Calibri"/>
              </a:rPr>
              <a:t>each weekly file repeats every sample, so 1,280,000 raw lines hold only 639,993 unique files (640,007 copies removed by sha256 before any split).</a:t>
            </a:r>
          </a:p>
        </p:txBody>
      </p:sp>
      <p:graphicFrame>
        <p:nvGraphicFramePr>
          <p:cNvPr id="6" name="Table 5"/>
          <p:cNvGraphicFramePr>
            <a:graphicFrameLocks noGrp="1"/>
          </p:cNvGraphicFramePr>
          <p:nvPr/>
        </p:nvGraphicFramePr>
        <p:xfrm>
          <a:off x="6400800" y="1325880"/>
          <a:ext cx="5303520" cy="2011680"/>
        </p:xfrm>
        <a:graphic>
          <a:graphicData uri="http://schemas.openxmlformats.org/drawingml/2006/table">
            <a:tbl>
              <a:tblPr firstRow="1" bandRow="1">
                <a:tableStyleId>{5C22544A-7EE6-4342-B048-85BDC9FD1C3A}</a:tableStyleId>
              </a:tblPr>
              <a:tblGrid>
                <a:gridCol w="1645920"/>
                <a:gridCol w="1097280"/>
                <a:gridCol w="1280160"/>
                <a:gridCol w="1280160"/>
              </a:tblGrid>
              <a:tr h="502920">
                <a:tc>
                  <a:txBody>
                    <a:bodyPr/>
                    <a:lstStyle/>
                    <a:p>
                      <a:pPr algn="l"/>
                      <a:r>
                        <a:rPr sz="1800" b="1">
                          <a:solidFill>
                            <a:srgbClr val="FFFFFF"/>
                          </a:solidFill>
                          <a:latin typeface="Calibri"/>
                        </a:rPr>
                        <a:t>split</a:t>
                      </a:r>
                    </a:p>
                  </a:txBody>
                  <a:tcPr marL="73152" marR="73152" anchor="ctr">
                    <a:solidFill>
                      <a:srgbClr val="1F2A44"/>
                    </a:solidFill>
                  </a:tcPr>
                </a:tc>
                <a:tc>
                  <a:txBody>
                    <a:bodyPr/>
                    <a:lstStyle/>
                    <a:p>
                      <a:pPr algn="ctr"/>
                      <a:r>
                        <a:rPr sz="1800" b="1">
                          <a:solidFill>
                            <a:srgbClr val="FFFFFF"/>
                          </a:solidFill>
                          <a:latin typeface="Calibri"/>
                        </a:rPr>
                        <a:t>weeks</a:t>
                      </a:r>
                    </a:p>
                  </a:txBody>
                  <a:tcPr marL="73152" marR="73152" anchor="ctr">
                    <a:solidFill>
                      <a:srgbClr val="1F2A44"/>
                    </a:solidFill>
                  </a:tcPr>
                </a:tc>
                <a:tc>
                  <a:txBody>
                    <a:bodyPr/>
                    <a:lstStyle/>
                    <a:p>
                      <a:pPr algn="ctr"/>
                      <a:r>
                        <a:rPr sz="1800" b="1">
                          <a:solidFill>
                            <a:srgbClr val="FFFFFF"/>
                          </a:solidFill>
                          <a:latin typeface="Calibri"/>
                        </a:rPr>
                        <a:t>files</a:t>
                      </a:r>
                    </a:p>
                  </a:txBody>
                  <a:tcPr marL="73152" marR="73152" anchor="ctr">
                    <a:solidFill>
                      <a:srgbClr val="1F2A44"/>
                    </a:solidFill>
                  </a:tcPr>
                </a:tc>
                <a:tc>
                  <a:txBody>
                    <a:bodyPr/>
                    <a:lstStyle/>
                    <a:p>
                      <a:pPr algn="ctr"/>
                      <a:r>
                        <a:rPr sz="1800" b="1">
                          <a:solidFill>
                            <a:srgbClr val="FFFFFF"/>
                          </a:solidFill>
                          <a:latin typeface="Calibri"/>
                        </a:rPr>
                        <a:t>malware</a:t>
                      </a:r>
                    </a:p>
                  </a:txBody>
                  <a:tcPr marL="73152" marR="73152" anchor="ctr">
                    <a:solidFill>
                      <a:srgbClr val="1F2A44"/>
                    </a:solidFill>
                  </a:tcPr>
                </a:tc>
              </a:tr>
              <a:tr h="502920">
                <a:tc>
                  <a:txBody>
                    <a:bodyPr/>
                    <a:lstStyle/>
                    <a:p>
                      <a:pPr algn="l"/>
                      <a:r>
                        <a:rPr sz="1800">
                          <a:solidFill>
                            <a:srgbClr val="1F2A44"/>
                          </a:solidFill>
                          <a:latin typeface="Calibri"/>
                        </a:rPr>
                        <a:t>train</a:t>
                      </a:r>
                    </a:p>
                  </a:txBody>
                  <a:tcPr marL="73152" marR="73152" anchor="ctr">
                    <a:solidFill>
                      <a:srgbClr val="EEF1F6"/>
                    </a:solidFill>
                  </a:tcPr>
                </a:tc>
                <a:tc>
                  <a:txBody>
                    <a:bodyPr/>
                    <a:lstStyle/>
                    <a:p>
                      <a:pPr algn="ctr"/>
                      <a:r>
                        <a:rPr sz="1800">
                          <a:solidFill>
                            <a:srgbClr val="1F2A44"/>
                          </a:solidFill>
                          <a:latin typeface="Calibri"/>
                        </a:rPr>
                        <a:t>0-51</a:t>
                      </a:r>
                    </a:p>
                  </a:txBody>
                  <a:tcPr marL="73152" marR="73152" anchor="ctr">
                    <a:solidFill>
                      <a:srgbClr val="EEF1F6"/>
                    </a:solidFill>
                  </a:tcPr>
                </a:tc>
                <a:tc>
                  <a:txBody>
                    <a:bodyPr/>
                    <a:lstStyle/>
                    <a:p>
                      <a:pPr algn="ctr"/>
                      <a:r>
                        <a:rPr sz="1800">
                          <a:solidFill>
                            <a:srgbClr val="1F2A44"/>
                          </a:solidFill>
                          <a:latin typeface="Calibri"/>
                        </a:rPr>
                        <a:t>160,000</a:t>
                      </a:r>
                    </a:p>
                  </a:txBody>
                  <a:tcPr marL="73152" marR="73152" anchor="ctr">
                    <a:solidFill>
                      <a:srgbClr val="EEF1F6"/>
                    </a:solidFill>
                  </a:tcPr>
                </a:tc>
                <a:tc>
                  <a:txBody>
                    <a:bodyPr/>
                    <a:lstStyle/>
                    <a:p>
                      <a:pPr algn="ctr"/>
                      <a:r>
                        <a:rPr sz="1800">
                          <a:solidFill>
                            <a:srgbClr val="1F2A44"/>
                          </a:solidFill>
                          <a:latin typeface="Calibri"/>
                        </a:rPr>
                        <a:t>50.0%</a:t>
                      </a:r>
                    </a:p>
                  </a:txBody>
                  <a:tcPr marL="73152" marR="73152" anchor="ctr">
                    <a:solidFill>
                      <a:srgbClr val="EEF1F6"/>
                    </a:solidFill>
                  </a:tcPr>
                </a:tc>
              </a:tr>
              <a:tr h="502920">
                <a:tc>
                  <a:txBody>
                    <a:bodyPr/>
                    <a:lstStyle/>
                    <a:p>
                      <a:pPr algn="l"/>
                      <a:r>
                        <a:rPr sz="1800">
                          <a:solidFill>
                            <a:srgbClr val="1F2A44"/>
                          </a:solidFill>
                          <a:latin typeface="Calibri"/>
                        </a:rPr>
                        <a:t>test_random</a:t>
                      </a:r>
                    </a:p>
                  </a:txBody>
                  <a:tcPr marL="73152" marR="73152" anchor="ctr">
                    <a:solidFill>
                      <a:srgbClr val="FFFFFF"/>
                    </a:solidFill>
                  </a:tcPr>
                </a:tc>
                <a:tc>
                  <a:txBody>
                    <a:bodyPr/>
                    <a:lstStyle/>
                    <a:p>
                      <a:pPr algn="ctr"/>
                      <a:r>
                        <a:rPr sz="1800">
                          <a:solidFill>
                            <a:srgbClr val="1F2A44"/>
                          </a:solidFill>
                          <a:latin typeface="Calibri"/>
                        </a:rPr>
                        <a:t>0-51</a:t>
                      </a:r>
                    </a:p>
                  </a:txBody>
                  <a:tcPr marL="73152" marR="73152" anchor="ctr">
                    <a:solidFill>
                      <a:srgbClr val="FFFFFF"/>
                    </a:solidFill>
                  </a:tcPr>
                </a:tc>
                <a:tc>
                  <a:txBody>
                    <a:bodyPr/>
                    <a:lstStyle/>
                    <a:p>
                      <a:pPr algn="ctr"/>
                      <a:r>
                        <a:rPr sz="1800">
                          <a:solidFill>
                            <a:srgbClr val="1F2A44"/>
                          </a:solidFill>
                          <a:latin typeface="Calibri"/>
                        </a:rPr>
                        <a:t>40,000</a:t>
                      </a:r>
                    </a:p>
                  </a:txBody>
                  <a:tcPr marL="73152" marR="73152" anchor="ctr">
                    <a:solidFill>
                      <a:srgbClr val="FFFFFF"/>
                    </a:solidFill>
                  </a:tcPr>
                </a:tc>
                <a:tc>
                  <a:txBody>
                    <a:bodyPr/>
                    <a:lstStyle/>
                    <a:p>
                      <a:pPr algn="ctr"/>
                      <a:r>
                        <a:rPr sz="1800">
                          <a:solidFill>
                            <a:srgbClr val="1F2A44"/>
                          </a:solidFill>
                          <a:latin typeface="Calibri"/>
                        </a:rPr>
                        <a:t>50.0%</a:t>
                      </a:r>
                    </a:p>
                  </a:txBody>
                  <a:tcPr marL="73152" marR="73152" anchor="ctr">
                    <a:solidFill>
                      <a:srgbClr val="FFFFFF"/>
                    </a:solidFill>
                  </a:tcPr>
                </a:tc>
              </a:tr>
              <a:tr h="502920">
                <a:tc>
                  <a:txBody>
                    <a:bodyPr/>
                    <a:lstStyle/>
                    <a:p>
                      <a:pPr algn="l"/>
                      <a:r>
                        <a:rPr sz="1800">
                          <a:solidFill>
                            <a:srgbClr val="1F2A44"/>
                          </a:solidFill>
                          <a:latin typeface="Calibri"/>
                        </a:rPr>
                        <a:t>test_future</a:t>
                      </a:r>
                    </a:p>
                  </a:txBody>
                  <a:tcPr marL="73152" marR="73152" anchor="ctr">
                    <a:solidFill>
                      <a:srgbClr val="EEF1F6"/>
                    </a:solidFill>
                  </a:tcPr>
                </a:tc>
                <a:tc>
                  <a:txBody>
                    <a:bodyPr/>
                    <a:lstStyle/>
                    <a:p>
                      <a:pPr algn="ctr"/>
                      <a:r>
                        <a:rPr sz="1800">
                          <a:solidFill>
                            <a:srgbClr val="1F2A44"/>
                          </a:solidFill>
                          <a:latin typeface="Calibri"/>
                        </a:rPr>
                        <a:t>52-63</a:t>
                      </a:r>
                    </a:p>
                  </a:txBody>
                  <a:tcPr marL="73152" marR="73152" anchor="ctr">
                    <a:solidFill>
                      <a:srgbClr val="EEF1F6"/>
                    </a:solidFill>
                  </a:tcPr>
                </a:tc>
                <a:tc>
                  <a:txBody>
                    <a:bodyPr/>
                    <a:lstStyle/>
                    <a:p>
                      <a:pPr algn="ctr"/>
                      <a:r>
                        <a:rPr sz="1800">
                          <a:solidFill>
                            <a:srgbClr val="1F2A44"/>
                          </a:solidFill>
                          <a:latin typeface="Calibri"/>
                        </a:rPr>
                        <a:t>40,000</a:t>
                      </a:r>
                    </a:p>
                  </a:txBody>
                  <a:tcPr marL="73152" marR="73152" anchor="ctr">
                    <a:solidFill>
                      <a:srgbClr val="EEF1F6"/>
                    </a:solidFill>
                  </a:tcPr>
                </a:tc>
                <a:tc>
                  <a:txBody>
                    <a:bodyPr/>
                    <a:lstStyle/>
                    <a:p>
                      <a:pPr algn="ctr"/>
                      <a:r>
                        <a:rPr sz="1800">
                          <a:solidFill>
                            <a:srgbClr val="1F2A44"/>
                          </a:solidFill>
                          <a:latin typeface="Calibri"/>
                        </a:rPr>
                        <a:t>50.0%</a:t>
                      </a:r>
                    </a:p>
                  </a:txBody>
                  <a:tcPr marL="73152" marR="73152" anchor="ctr">
                    <a:solidFill>
                      <a:srgbClr val="EEF1F6"/>
                    </a:solidFill>
                  </a:tcPr>
                </a:tc>
              </a:tr>
            </a:tbl>
          </a:graphicData>
        </a:graphic>
      </p:graphicFrame>
      <p:sp>
        <p:nvSpPr>
          <p:cNvPr id="7" name="TextBox 6"/>
          <p:cNvSpPr txBox="1"/>
          <p:nvPr/>
        </p:nvSpPr>
        <p:spPr>
          <a:xfrm>
            <a:off x="6400800" y="3566160"/>
            <a:ext cx="5303520" cy="2377440"/>
          </a:xfrm>
          <a:prstGeom prst="rect">
            <a:avLst/>
          </a:prstGeom>
          <a:noFill/>
        </p:spPr>
        <p:txBody>
          <a:bodyPr wrap="square" anchor="t">
            <a:spAutoFit/>
          </a:bodyPr>
          <a:lstStyle/>
          <a:p>
            <a:pPr algn="l" marL="205740" indent="-205740">
              <a:spcAft>
                <a:spcPts val="800"/>
              </a:spcAft>
              <a:buChar char="•"/>
            </a:pPr>
            <a:r>
              <a:rPr sz="1800" b="0">
                <a:solidFill>
                  <a:srgbClr val="5F6673"/>
                </a:solidFill>
                <a:latin typeface="Calibri"/>
              </a:rPr>
              <a:t>test_random: same weeks as train (stratified by label x week).</a:t>
            </a:r>
          </a:p>
          <a:p>
            <a:pPr algn="l" marL="205740" indent="-205740">
              <a:spcAft>
                <a:spcPts val="800"/>
              </a:spcAft>
              <a:buChar char="•"/>
            </a:pPr>
            <a:r>
              <a:rPr sz="1800" b="0">
                <a:solidFill>
                  <a:srgbClr val="5F6673"/>
                </a:solidFill>
                <a:latin typeface="Calibri"/>
              </a:rPr>
              <a:t>test_future: 12 strictly later weeks.</a:t>
            </a:r>
          </a:p>
          <a:p>
            <a:pPr algn="l" marL="205740" indent="-205740">
              <a:spcAft>
                <a:spcPts val="800"/>
              </a:spcAft>
              <a:buChar char="•"/>
            </a:pPr>
            <a:r>
              <a:rPr sz="1800" b="0">
                <a:solidFill>
                  <a:srgbClr val="5F6673"/>
                </a:solidFill>
                <a:latin typeface="Calibri"/>
              </a:rPr>
              <a:t>Both are used only for final scoring, never for tuning or thresholds.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31520"/>
          </a:xfrm>
          <a:prstGeom prst="rect">
            <a:avLst/>
          </a:prstGeom>
          <a:noFill/>
        </p:spPr>
        <p:txBody>
          <a:bodyPr wrap="square" anchor="ctr">
            <a:spAutoFit/>
          </a:bodyPr>
          <a:lstStyle/>
          <a:p>
            <a:pPr algn="l">
              <a:spcAft>
                <a:spcPts val="800"/>
              </a:spcAft>
            </a:pPr>
            <a:r>
              <a:rPr sz="3000" b="1">
                <a:solidFill>
                  <a:srgbClr val="FFFFFF"/>
                </a:solidFill>
                <a:latin typeface="Calibri"/>
              </a:rPr>
              <a:t>Method and pipeline</a:t>
            </a:r>
          </a:p>
        </p:txBody>
      </p:sp>
      <p:sp>
        <p:nvSpPr>
          <p:cNvPr id="4" name="TextBox 3"/>
          <p:cNvSpPr txBox="1"/>
          <p:nvPr/>
        </p:nvSpPr>
        <p:spPr>
          <a:xfrm>
            <a:off x="457200" y="6446520"/>
            <a:ext cx="11277295" cy="320040"/>
          </a:xfrm>
          <a:prstGeom prst="rect">
            <a:avLst/>
          </a:prstGeom>
          <a:noFill/>
        </p:spPr>
        <p:txBody>
          <a:bodyPr wrap="square" anchor="t">
            <a:spAutoFit/>
          </a:bodyPr>
          <a:lstStyle/>
          <a:p>
            <a:pPr algn="l">
              <a:spcAft>
                <a:spcPts val="800"/>
              </a:spcAft>
            </a:pPr>
            <a:r>
              <a:rPr sz="1200" b="0">
                <a:solidFill>
                  <a:srgbClr val="5F6673"/>
                </a:solidFill>
                <a:latin typeface="Calibri"/>
              </a:rPr>
              <a:t>Source: docs/PLAN.md, run_all.py; the detailed diagram for the report is reports/figures/architecture.png</a:t>
            </a:r>
          </a:p>
        </p:txBody>
      </p:sp>
      <p:sp>
        <p:nvSpPr>
          <p:cNvPr id="5" name="Rounded Rectangle 4"/>
          <p:cNvSpPr/>
          <p:nvPr/>
        </p:nvSpPr>
        <p:spPr>
          <a:xfrm>
            <a:off x="457200" y="1325880"/>
            <a:ext cx="2514600" cy="1600200"/>
          </a:xfrm>
          <a:prstGeom prst="round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Raw data</a:t>
            </a:r>
          </a:p>
          <a:p>
            <a:pPr algn="ctr"/>
            <a:r>
              <a:rPr sz="1800" b="0">
                <a:solidFill>
                  <a:srgbClr val="FFFFFF"/>
                </a:solidFill>
                <a:latin typeface="Calibri"/>
              </a:rPr>
              <a:t>64 weekly jsonl files</a:t>
            </a:r>
          </a:p>
          <a:p>
            <a:pPr algn="ctr"/>
            <a:r>
              <a:rPr sz="1800" b="0">
                <a:solidFill>
                  <a:srgbClr val="FFFFFF"/>
                </a:solidFill>
                <a:latin typeface="Calibri"/>
              </a:rPr>
              <a:t>EMBER2024 Win64</a:t>
            </a:r>
          </a:p>
        </p:txBody>
      </p:sp>
      <p:sp>
        <p:nvSpPr>
          <p:cNvPr id="6" name="Right Arrow 5"/>
          <p:cNvSpPr/>
          <p:nvPr/>
        </p:nvSpPr>
        <p:spPr>
          <a:xfrm>
            <a:off x="3017520" y="1988820"/>
            <a:ext cx="292608" cy="274320"/>
          </a:xfrm>
          <a:prstGeom prst="rightArrow">
            <a:avLst/>
          </a:prstGeom>
          <a:solidFill>
            <a:srgbClr val="5F66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55848" y="1325880"/>
            <a:ext cx="2514600" cy="1600200"/>
          </a:xfrm>
          <a:prstGeom prst="round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De-duplicate</a:t>
            </a:r>
          </a:p>
          <a:p>
            <a:pPr algn="ctr"/>
            <a:r>
              <a:rPr sz="1800" b="0">
                <a:solidFill>
                  <a:srgbClr val="FFFFFF"/>
                </a:solidFill>
                <a:latin typeface="Calibri"/>
              </a:rPr>
              <a:t>global sha256</a:t>
            </a:r>
          </a:p>
          <a:p>
            <a:pPr algn="ctr"/>
            <a:r>
              <a:rPr sz="1800" b="0">
                <a:solidFill>
                  <a:srgbClr val="FFFFFF"/>
                </a:solidFill>
                <a:latin typeface="Calibri"/>
              </a:rPr>
              <a:t>(each file listed twice)</a:t>
            </a:r>
          </a:p>
        </p:txBody>
      </p:sp>
      <p:sp>
        <p:nvSpPr>
          <p:cNvPr id="8" name="Right Arrow 7"/>
          <p:cNvSpPr/>
          <p:nvPr/>
        </p:nvSpPr>
        <p:spPr>
          <a:xfrm>
            <a:off x="5916168" y="1988820"/>
            <a:ext cx="292608" cy="274320"/>
          </a:xfrm>
          <a:prstGeom prst="rightArrow">
            <a:avLst/>
          </a:prstGeom>
          <a:solidFill>
            <a:srgbClr val="5F66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54496" y="1325880"/>
            <a:ext cx="2514600" cy="1600200"/>
          </a:xfrm>
          <a:prstGeom prst="round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Fixed splits</a:t>
            </a:r>
          </a:p>
          <a:p>
            <a:pPr algn="ctr"/>
            <a:r>
              <a:rPr sz="1800" b="0">
                <a:solidFill>
                  <a:srgbClr val="FFFFFF"/>
                </a:solidFill>
                <a:latin typeface="Calibri"/>
              </a:rPr>
              <a:t>train / test_random:</a:t>
            </a:r>
          </a:p>
          <a:p>
            <a:pPr algn="ctr"/>
            <a:r>
              <a:rPr sz="1800" b="0">
                <a:solidFill>
                  <a:srgbClr val="FFFFFF"/>
                </a:solidFill>
                <a:latin typeface="Calibri"/>
              </a:rPr>
              <a:t>weeks 0-51</a:t>
            </a:r>
          </a:p>
          <a:p>
            <a:pPr algn="ctr"/>
            <a:r>
              <a:rPr sz="1800" b="0">
                <a:solidFill>
                  <a:srgbClr val="FFFFFF"/>
                </a:solidFill>
                <a:latin typeface="Calibri"/>
              </a:rPr>
              <a:t>test_future: 52-63</a:t>
            </a:r>
          </a:p>
        </p:txBody>
      </p:sp>
      <p:sp>
        <p:nvSpPr>
          <p:cNvPr id="10" name="Right Arrow 9"/>
          <p:cNvSpPr/>
          <p:nvPr/>
        </p:nvSpPr>
        <p:spPr>
          <a:xfrm>
            <a:off x="8814816" y="1988820"/>
            <a:ext cx="292608" cy="274320"/>
          </a:xfrm>
          <a:prstGeom prst="rightArrow">
            <a:avLst/>
          </a:prstGeom>
          <a:solidFill>
            <a:srgbClr val="5F66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53144" y="1325880"/>
            <a:ext cx="2514600" cy="1600200"/>
          </a:xfrm>
          <a:prstGeom prst="round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Feature cache</a:t>
            </a:r>
          </a:p>
          <a:p>
            <a:pPr algn="ctr"/>
            <a:r>
              <a:rPr sz="1800" b="0">
                <a:solidFill>
                  <a:srgbClr val="FFFFFF"/>
                </a:solidFill>
                <a:latin typeface="Calibri"/>
              </a:rPr>
              <a:t>2,568 float32</a:t>
            </a:r>
          </a:p>
          <a:p>
            <a:pPr algn="ctr"/>
            <a:r>
              <a:rPr sz="1800" b="0">
                <a:solidFill>
                  <a:srgbClr val="FFFFFF"/>
                </a:solidFill>
                <a:latin typeface="Calibri"/>
              </a:rPr>
              <a:t>features per file</a:t>
            </a:r>
          </a:p>
        </p:txBody>
      </p:sp>
      <p:sp>
        <p:nvSpPr>
          <p:cNvPr id="12" name="Rounded Rectangle 11"/>
          <p:cNvSpPr/>
          <p:nvPr/>
        </p:nvSpPr>
        <p:spPr>
          <a:xfrm>
            <a:off x="9153144" y="3840480"/>
            <a:ext cx="2514600" cy="160020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Step 2: manual</a:t>
            </a:r>
          </a:p>
          <a:p>
            <a:pPr algn="ctr"/>
            <a:r>
              <a:rPr sz="1800" b="0">
                <a:solidFill>
                  <a:srgbClr val="FFFFFF"/>
                </a:solidFill>
                <a:latin typeface="Calibri"/>
              </a:rPr>
              <a:t>LightGBM: grid,</a:t>
            </a:r>
          </a:p>
          <a:p>
            <a:pPr algn="ctr"/>
            <a:r>
              <a:rPr sz="1800" b="0">
                <a:solidFill>
                  <a:srgbClr val="FFFFFF"/>
                </a:solidFill>
                <a:latin typeface="Calibri"/>
              </a:rPr>
              <a:t>random, Optuna</a:t>
            </a:r>
          </a:p>
          <a:p>
            <a:pPr algn="ctr"/>
            <a:r>
              <a:rPr sz="1800" b="0">
                <a:solidFill>
                  <a:srgbClr val="FFFFFF"/>
                </a:solidFill>
                <a:latin typeface="Calibri"/>
              </a:rPr>
              <a:t>36 trials each</a:t>
            </a:r>
          </a:p>
        </p:txBody>
      </p:sp>
      <p:sp>
        <p:nvSpPr>
          <p:cNvPr id="13" name="Left Arrow 12"/>
          <p:cNvSpPr/>
          <p:nvPr/>
        </p:nvSpPr>
        <p:spPr>
          <a:xfrm>
            <a:off x="8814816" y="4503420"/>
            <a:ext cx="292608" cy="274320"/>
          </a:xfrm>
          <a:prstGeom prst="leftArrow">
            <a:avLst/>
          </a:prstGeom>
          <a:solidFill>
            <a:srgbClr val="5F66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54496" y="3840480"/>
            <a:ext cx="2514600" cy="160020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Step 3: AutoML</a:t>
            </a:r>
          </a:p>
          <a:p>
            <a:pPr algn="ctr"/>
            <a:r>
              <a:rPr sz="1800" b="0">
                <a:solidFill>
                  <a:srgbClr val="FFFFFF"/>
                </a:solidFill>
                <a:latin typeface="Calibri"/>
              </a:rPr>
              <a:t>FLAML, AutoGluon,</a:t>
            </a:r>
          </a:p>
          <a:p>
            <a:pPr algn="ctr"/>
            <a:r>
              <a:rPr sz="1800" b="0">
                <a:solidFill>
                  <a:srgbClr val="FFFFFF"/>
                </a:solidFill>
                <a:latin typeface="Calibri"/>
              </a:rPr>
              <a:t>H2O; equal</a:t>
            </a:r>
          </a:p>
          <a:p>
            <a:pPr algn="ctr"/>
            <a:r>
              <a:rPr sz="1800" b="0">
                <a:solidFill>
                  <a:srgbClr val="FFFFFF"/>
                </a:solidFill>
                <a:latin typeface="Calibri"/>
              </a:rPr>
              <a:t>time budget</a:t>
            </a:r>
          </a:p>
        </p:txBody>
      </p:sp>
      <p:sp>
        <p:nvSpPr>
          <p:cNvPr id="15" name="Left Arrow 14"/>
          <p:cNvSpPr/>
          <p:nvPr/>
        </p:nvSpPr>
        <p:spPr>
          <a:xfrm>
            <a:off x="5916168" y="4503420"/>
            <a:ext cx="292608" cy="274320"/>
          </a:xfrm>
          <a:prstGeom prst="leftArrow">
            <a:avLst/>
          </a:prstGeom>
          <a:solidFill>
            <a:srgbClr val="5F66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55848" y="3840480"/>
            <a:ext cx="2514600" cy="1600200"/>
          </a:xfrm>
          <a:prstGeom prst="roundRect">
            <a:avLst/>
          </a:prstGeom>
          <a:solidFill>
            <a:srgbClr val="E06C2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Step 4: evaluate</a:t>
            </a:r>
          </a:p>
          <a:p>
            <a:pPr algn="ctr"/>
            <a:r>
              <a:rPr sz="1800" b="0">
                <a:solidFill>
                  <a:srgbClr val="FFFFFF"/>
                </a:solidFill>
                <a:latin typeface="Calibri"/>
              </a:rPr>
              <a:t>leakage, drift,</a:t>
            </a:r>
          </a:p>
          <a:p>
            <a:pPr algn="ctr"/>
            <a:r>
              <a:rPr sz="1800" b="0">
                <a:solidFill>
                  <a:srgbClr val="FFFFFF"/>
                </a:solidFill>
                <a:latin typeface="Calibri"/>
              </a:rPr>
              <a:t>prevalence,</a:t>
            </a:r>
          </a:p>
          <a:p>
            <a:pPr algn="ctr"/>
            <a:r>
              <a:rPr sz="1800" b="0">
                <a:solidFill>
                  <a:srgbClr val="FFFFFF"/>
                </a:solidFill>
                <a:latin typeface="Calibri"/>
              </a:rPr>
              <a:t>challenge, SHAP</a:t>
            </a:r>
          </a:p>
        </p:txBody>
      </p:sp>
      <p:sp>
        <p:nvSpPr>
          <p:cNvPr id="17" name="Left Arrow 16"/>
          <p:cNvSpPr/>
          <p:nvPr/>
        </p:nvSpPr>
        <p:spPr>
          <a:xfrm>
            <a:off x="3017520" y="4503420"/>
            <a:ext cx="292608" cy="274320"/>
          </a:xfrm>
          <a:prstGeom prst="leftArrow">
            <a:avLst/>
          </a:prstGeom>
          <a:solidFill>
            <a:srgbClr val="5F66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7200" y="3840480"/>
            <a:ext cx="2514600" cy="1600200"/>
          </a:xfrm>
          <a:prstGeom prst="roundRect">
            <a:avLst/>
          </a:prstGeom>
          <a:solidFill>
            <a:srgbClr val="E06C2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Step 5: deploy</a:t>
            </a:r>
          </a:p>
          <a:p>
            <a:pPr algn="ctr"/>
            <a:r>
              <a:rPr sz="1800" b="0">
                <a:solidFill>
                  <a:srgbClr val="FFFFFF"/>
                </a:solidFill>
                <a:latin typeface="Calibri"/>
              </a:rPr>
              <a:t>FastAPI + Streamlit,</a:t>
            </a:r>
          </a:p>
          <a:p>
            <a:pPr algn="ctr"/>
            <a:r>
              <a:rPr sz="1800" b="0">
                <a:solidFill>
                  <a:srgbClr val="FFFFFF"/>
                </a:solidFill>
                <a:latin typeface="Calibri"/>
              </a:rPr>
              <a:t>cost threshold,</a:t>
            </a:r>
          </a:p>
          <a:p>
            <a:pPr algn="ctr"/>
            <a:r>
              <a:rPr sz="1800" b="0">
                <a:solidFill>
                  <a:srgbClr val="FFFFFF"/>
                </a:solidFill>
                <a:latin typeface="Calibri"/>
              </a:rPr>
              <a:t>model card</a:t>
            </a:r>
          </a:p>
        </p:txBody>
      </p:sp>
      <p:sp>
        <p:nvSpPr>
          <p:cNvPr id="19" name="Down Arrow 18"/>
          <p:cNvSpPr/>
          <p:nvPr/>
        </p:nvSpPr>
        <p:spPr>
          <a:xfrm>
            <a:off x="10227564" y="3017520"/>
            <a:ext cx="365760" cy="731520"/>
          </a:xfrm>
          <a:prstGeom prst="downArrow">
            <a:avLst/>
          </a:prstGeom>
          <a:solidFill>
            <a:srgbClr val="5F66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623560"/>
            <a:ext cx="11277295" cy="548640"/>
          </a:xfrm>
          <a:prstGeom prst="rect">
            <a:avLst/>
          </a:prstGeom>
          <a:noFill/>
        </p:spPr>
        <p:txBody>
          <a:bodyPr wrap="square" anchor="t">
            <a:spAutoFit/>
          </a:bodyPr>
          <a:lstStyle/>
          <a:p>
            <a:pPr algn="l">
              <a:spcAft>
                <a:spcPts val="800"/>
              </a:spcAft>
            </a:pPr>
            <a:r>
              <a:rPr sz="1800" b="0">
                <a:solidFill>
                  <a:srgbClr val="5F6673"/>
                </a:solidFill>
                <a:latin typeface="Calibri"/>
              </a:rPr>
              <a:t>Test sets are scored once at the end; every table and figure is built by a script.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31520"/>
          </a:xfrm>
          <a:prstGeom prst="rect">
            <a:avLst/>
          </a:prstGeom>
          <a:noFill/>
        </p:spPr>
        <p:txBody>
          <a:bodyPr wrap="square" anchor="ctr">
            <a:spAutoFit/>
          </a:bodyPr>
          <a:lstStyle/>
          <a:p>
            <a:pPr algn="l">
              <a:spcAft>
                <a:spcPts val="800"/>
              </a:spcAft>
            </a:pPr>
            <a:r>
              <a:rPr sz="3000" b="1">
                <a:solidFill>
                  <a:srgbClr val="FFFFFF"/>
                </a:solidFill>
                <a:latin typeface="Calibri"/>
              </a:rPr>
              <a:t>Step 2: manual LightGBM tuning (36 trials each)</a:t>
            </a:r>
          </a:p>
        </p:txBody>
      </p:sp>
      <p:sp>
        <p:nvSpPr>
          <p:cNvPr id="4" name="TextBox 3"/>
          <p:cNvSpPr txBox="1"/>
          <p:nvPr/>
        </p:nvSpPr>
        <p:spPr>
          <a:xfrm>
            <a:off x="457200" y="6446520"/>
            <a:ext cx="11277295" cy="320040"/>
          </a:xfrm>
          <a:prstGeom prst="rect">
            <a:avLst/>
          </a:prstGeom>
          <a:noFill/>
        </p:spPr>
        <p:txBody>
          <a:bodyPr wrap="square" anchor="t">
            <a:spAutoFit/>
          </a:bodyPr>
          <a:lstStyle/>
          <a:p>
            <a:pPr algn="l">
              <a:spcAft>
                <a:spcPts val="800"/>
              </a:spcAft>
            </a:pPr>
            <a:r>
              <a:rPr sz="1200" b="0">
                <a:solidFill>
                  <a:srgbClr val="5F6673"/>
                </a:solidFill>
                <a:latin typeface="Calibri"/>
              </a:rPr>
              <a:t>Source: reports/tables/tuning_summary.csv, reports/tuning_writeup.md</a:t>
            </a:r>
          </a:p>
        </p:txBody>
      </p:sp>
      <p:graphicFrame>
        <p:nvGraphicFramePr>
          <p:cNvPr id="5" name="Table 4"/>
          <p:cNvGraphicFramePr>
            <a:graphicFrameLocks noGrp="1"/>
          </p:cNvGraphicFramePr>
          <p:nvPr/>
        </p:nvGraphicFramePr>
        <p:xfrm>
          <a:off x="457200" y="1188720"/>
          <a:ext cx="11247120" cy="3017520"/>
        </p:xfrm>
        <a:graphic>
          <a:graphicData uri="http://schemas.openxmlformats.org/drawingml/2006/table">
            <a:tbl>
              <a:tblPr firstRow="1" bandRow="1">
                <a:tableStyleId>{5C22544A-7EE6-4342-B048-85BDC9FD1C3A}</a:tableStyleId>
              </a:tblPr>
              <a:tblGrid>
                <a:gridCol w="2286000"/>
                <a:gridCol w="914400"/>
                <a:gridCol w="1463040"/>
                <a:gridCol w="1645920"/>
                <a:gridCol w="1645920"/>
                <a:gridCol w="2103120"/>
                <a:gridCol w="1188720"/>
              </a:tblGrid>
              <a:tr h="502920">
                <a:tc>
                  <a:txBody>
                    <a:bodyPr/>
                    <a:lstStyle/>
                    <a:p>
                      <a:pPr algn="l"/>
                      <a:r>
                        <a:rPr sz="1800" b="1">
                          <a:solidFill>
                            <a:srgbClr val="FFFFFF"/>
                          </a:solidFill>
                          <a:latin typeface="Calibri"/>
                        </a:rPr>
                        <a:t>method</a:t>
                      </a:r>
                    </a:p>
                  </a:txBody>
                  <a:tcPr marL="73152" marR="73152" anchor="ctr">
                    <a:solidFill>
                      <a:srgbClr val="1F2A44"/>
                    </a:solidFill>
                  </a:tcPr>
                </a:tc>
                <a:tc>
                  <a:txBody>
                    <a:bodyPr/>
                    <a:lstStyle/>
                    <a:p>
                      <a:pPr algn="ctr"/>
                      <a:r>
                        <a:rPr sz="1800" b="1">
                          <a:solidFill>
                            <a:srgbClr val="FFFFFF"/>
                          </a:solidFill>
                          <a:latin typeface="Calibri"/>
                        </a:rPr>
                        <a:t>trials</a:t>
                      </a:r>
                    </a:p>
                  </a:txBody>
                  <a:tcPr marL="73152" marR="73152" anchor="ctr">
                    <a:solidFill>
                      <a:srgbClr val="1F2A44"/>
                    </a:solidFill>
                  </a:tcPr>
                </a:tc>
                <a:tc>
                  <a:txBody>
                    <a:bodyPr/>
                    <a:lstStyle/>
                    <a:p>
                      <a:pPr algn="ctr"/>
                      <a:r>
                        <a:rPr sz="1800" b="1">
                          <a:solidFill>
                            <a:srgbClr val="FFFFFF"/>
                          </a:solidFill>
                          <a:latin typeface="Calibri"/>
                        </a:rPr>
                        <a:t>CV AUC</a:t>
                      </a:r>
                    </a:p>
                  </a:txBody>
                  <a:tcPr marL="73152" marR="73152" anchor="ctr">
                    <a:solidFill>
                      <a:srgbClr val="1F2A44"/>
                    </a:solidFill>
                  </a:tcPr>
                </a:tc>
                <a:tc>
                  <a:txBody>
                    <a:bodyPr/>
                    <a:lstStyle/>
                    <a:p>
                      <a:pPr algn="ctr"/>
                      <a:r>
                        <a:rPr sz="1800" b="1">
                          <a:solidFill>
                            <a:srgbClr val="FFFFFF"/>
                          </a:solidFill>
                          <a:latin typeface="Calibri"/>
                        </a:rPr>
                        <a:t>AUC random</a:t>
                      </a:r>
                    </a:p>
                  </a:txBody>
                  <a:tcPr marL="73152" marR="73152" anchor="ctr">
                    <a:solidFill>
                      <a:srgbClr val="1F2A44"/>
                    </a:solidFill>
                  </a:tcPr>
                </a:tc>
                <a:tc>
                  <a:txBody>
                    <a:bodyPr/>
                    <a:lstStyle/>
                    <a:p>
                      <a:pPr algn="ctr"/>
                      <a:r>
                        <a:rPr sz="1800" b="1">
                          <a:solidFill>
                            <a:srgbClr val="FFFFFF"/>
                          </a:solidFill>
                          <a:latin typeface="Calibri"/>
                        </a:rPr>
                        <a:t>AUC future</a:t>
                      </a:r>
                    </a:p>
                  </a:txBody>
                  <a:tcPr marL="73152" marR="73152" anchor="ctr">
                    <a:solidFill>
                      <a:srgbClr val="1F2A44"/>
                    </a:solidFill>
                  </a:tcPr>
                </a:tc>
                <a:tc>
                  <a:txBody>
                    <a:bodyPr/>
                    <a:lstStyle/>
                    <a:p>
                      <a:pPr algn="ctr"/>
                      <a:r>
                        <a:rPr sz="1800" b="1">
                          <a:solidFill>
                            <a:srgbClr val="FFFFFF"/>
                          </a:solidFill>
                          <a:latin typeface="Calibri"/>
                        </a:rPr>
                        <a:t>TPR@1%FPR future</a:t>
                      </a:r>
                    </a:p>
                  </a:txBody>
                  <a:tcPr marL="73152" marR="73152" anchor="ctr">
                    <a:solidFill>
                      <a:srgbClr val="1F2A44"/>
                    </a:solidFill>
                  </a:tcPr>
                </a:tc>
                <a:tc>
                  <a:txBody>
                    <a:bodyPr/>
                    <a:lstStyle/>
                    <a:p>
                      <a:pPr algn="ctr"/>
                      <a:r>
                        <a:rPr sz="1800" b="1">
                          <a:solidFill>
                            <a:srgbClr val="FFFFFF"/>
                          </a:solidFill>
                          <a:latin typeface="Calibri"/>
                        </a:rPr>
                        <a:t>search min</a:t>
                      </a:r>
                    </a:p>
                  </a:txBody>
                  <a:tcPr marL="73152" marR="73152" anchor="ctr">
                    <a:solidFill>
                      <a:srgbClr val="1F2A44"/>
                    </a:solidFill>
                  </a:tcPr>
                </a:tc>
              </a:tr>
              <a:tr h="502920">
                <a:tc>
                  <a:txBody>
                    <a:bodyPr/>
                    <a:lstStyle/>
                    <a:p>
                      <a:pPr algn="l"/>
                      <a:r>
                        <a:rPr sz="1800">
                          <a:solidFill>
                            <a:srgbClr val="1F2A44"/>
                          </a:solidFill>
                          <a:latin typeface="Calibri"/>
                        </a:rPr>
                        <a:t>LightGBM default</a:t>
                      </a:r>
                    </a:p>
                  </a:txBody>
                  <a:tcPr marL="73152" marR="73152" anchor="ctr">
                    <a:solidFill>
                      <a:srgbClr val="EEF1F6"/>
                    </a:solidFill>
                  </a:tcPr>
                </a:tc>
                <a:tc>
                  <a:txBody>
                    <a:bodyPr/>
                    <a:lstStyle/>
                    <a:p>
                      <a:pPr algn="ctr"/>
                      <a:r>
                        <a:rPr sz="1800">
                          <a:solidFill>
                            <a:srgbClr val="1F2A44"/>
                          </a:solidFill>
                          <a:latin typeface="Calibri"/>
                        </a:rPr>
                        <a:t>-</a:t>
                      </a:r>
                    </a:p>
                  </a:txBody>
                  <a:tcPr marL="73152" marR="73152" anchor="ctr">
                    <a:solidFill>
                      <a:srgbClr val="EEF1F6"/>
                    </a:solidFill>
                  </a:tcPr>
                </a:tc>
                <a:tc>
                  <a:txBody>
                    <a:bodyPr/>
                    <a:lstStyle/>
                    <a:p>
                      <a:pPr algn="ctr"/>
                      <a:r>
                        <a:rPr sz="1800">
                          <a:solidFill>
                            <a:srgbClr val="1F2A44"/>
                          </a:solidFill>
                          <a:latin typeface="Calibri"/>
                        </a:rPr>
                        <a:t>0.9968</a:t>
                      </a:r>
                    </a:p>
                  </a:txBody>
                  <a:tcPr marL="73152" marR="73152" anchor="ctr">
                    <a:solidFill>
                      <a:srgbClr val="EEF1F6"/>
                    </a:solidFill>
                  </a:tcPr>
                </a:tc>
                <a:tc>
                  <a:txBody>
                    <a:bodyPr/>
                    <a:lstStyle/>
                    <a:p>
                      <a:pPr algn="ctr"/>
                      <a:r>
                        <a:rPr sz="1800">
                          <a:solidFill>
                            <a:srgbClr val="1F2A44"/>
                          </a:solidFill>
                          <a:latin typeface="Calibri"/>
                        </a:rPr>
                        <a:t>0.9978</a:t>
                      </a:r>
                    </a:p>
                  </a:txBody>
                  <a:tcPr marL="73152" marR="73152" anchor="ctr">
                    <a:solidFill>
                      <a:srgbClr val="EEF1F6"/>
                    </a:solidFill>
                  </a:tcPr>
                </a:tc>
                <a:tc>
                  <a:txBody>
                    <a:bodyPr/>
                    <a:lstStyle/>
                    <a:p>
                      <a:pPr algn="ctr"/>
                      <a:r>
                        <a:rPr sz="1800">
                          <a:solidFill>
                            <a:srgbClr val="1F2A44"/>
                          </a:solidFill>
                          <a:latin typeface="Calibri"/>
                        </a:rPr>
                        <a:t>0.9967</a:t>
                      </a:r>
                    </a:p>
                  </a:txBody>
                  <a:tcPr marL="73152" marR="73152" anchor="ctr">
                    <a:solidFill>
                      <a:srgbClr val="EEF1F6"/>
                    </a:solidFill>
                  </a:tcPr>
                </a:tc>
                <a:tc>
                  <a:txBody>
                    <a:bodyPr/>
                    <a:lstStyle/>
                    <a:p>
                      <a:pPr algn="ctr"/>
                      <a:r>
                        <a:rPr sz="1800">
                          <a:solidFill>
                            <a:srgbClr val="1F2A44"/>
                          </a:solidFill>
                          <a:latin typeface="Calibri"/>
                        </a:rPr>
                        <a:t>95.1%</a:t>
                      </a:r>
                    </a:p>
                  </a:txBody>
                  <a:tcPr marL="73152" marR="73152" anchor="ctr">
                    <a:solidFill>
                      <a:srgbClr val="EEF1F6"/>
                    </a:solidFill>
                  </a:tcPr>
                </a:tc>
                <a:tc>
                  <a:txBody>
                    <a:bodyPr/>
                    <a:lstStyle/>
                    <a:p>
                      <a:pPr algn="ctr"/>
                      <a:r>
                        <a:rPr sz="1800">
                          <a:solidFill>
                            <a:srgbClr val="1F2A44"/>
                          </a:solidFill>
                          <a:latin typeface="Calibri"/>
                        </a:rPr>
                        <a:t>-</a:t>
                      </a:r>
                    </a:p>
                  </a:txBody>
                  <a:tcPr marL="73152" marR="73152" anchor="ctr">
                    <a:solidFill>
                      <a:srgbClr val="EEF1F6"/>
                    </a:solidFill>
                  </a:tcPr>
                </a:tc>
              </a:tr>
              <a:tr h="502920">
                <a:tc>
                  <a:txBody>
                    <a:bodyPr/>
                    <a:lstStyle/>
                    <a:p>
                      <a:pPr algn="l"/>
                      <a:r>
                        <a:rPr sz="1800">
                          <a:solidFill>
                            <a:srgbClr val="1F2A44"/>
                          </a:solidFill>
                          <a:latin typeface="Calibri"/>
                        </a:rPr>
                        <a:t>LogReg</a:t>
                      </a:r>
                    </a:p>
                  </a:txBody>
                  <a:tcPr marL="73152" marR="73152" anchor="ctr">
                    <a:solidFill>
                      <a:srgbClr val="FFFFFF"/>
                    </a:solidFill>
                  </a:tcPr>
                </a:tc>
                <a:tc>
                  <a:txBody>
                    <a:bodyPr/>
                    <a:lstStyle/>
                    <a:p>
                      <a:pPr algn="ctr"/>
                      <a:r>
                        <a:rPr sz="1800">
                          <a:solidFill>
                            <a:srgbClr val="1F2A44"/>
                          </a:solidFill>
                          <a:latin typeface="Calibri"/>
                        </a:rPr>
                        <a:t>-</a:t>
                      </a:r>
                    </a:p>
                  </a:txBody>
                  <a:tcPr marL="73152" marR="73152" anchor="ctr">
                    <a:solidFill>
                      <a:srgbClr val="FFFFFF"/>
                    </a:solidFill>
                  </a:tcPr>
                </a:tc>
                <a:tc>
                  <a:txBody>
                    <a:bodyPr/>
                    <a:lstStyle/>
                    <a:p>
                      <a:pPr algn="ctr"/>
                      <a:r>
                        <a:rPr sz="1800">
                          <a:solidFill>
                            <a:srgbClr val="1F2A44"/>
                          </a:solidFill>
                          <a:latin typeface="Calibri"/>
                        </a:rPr>
                        <a:t>0.9842</a:t>
                      </a:r>
                    </a:p>
                  </a:txBody>
                  <a:tcPr marL="73152" marR="73152" anchor="ctr">
                    <a:solidFill>
                      <a:srgbClr val="FFFFFF"/>
                    </a:solidFill>
                  </a:tcPr>
                </a:tc>
                <a:tc>
                  <a:txBody>
                    <a:bodyPr/>
                    <a:lstStyle/>
                    <a:p>
                      <a:pPr algn="ctr"/>
                      <a:r>
                        <a:rPr sz="1800">
                          <a:solidFill>
                            <a:srgbClr val="1F2A44"/>
                          </a:solidFill>
                          <a:latin typeface="Calibri"/>
                        </a:rPr>
                        <a:t>0.9929</a:t>
                      </a:r>
                    </a:p>
                  </a:txBody>
                  <a:tcPr marL="73152" marR="73152" anchor="ctr">
                    <a:solidFill>
                      <a:srgbClr val="FFFFFF"/>
                    </a:solidFill>
                  </a:tcPr>
                </a:tc>
                <a:tc>
                  <a:txBody>
                    <a:bodyPr/>
                    <a:lstStyle/>
                    <a:p>
                      <a:pPr algn="ctr"/>
                      <a:r>
                        <a:rPr sz="1800">
                          <a:solidFill>
                            <a:srgbClr val="1F2A44"/>
                          </a:solidFill>
                          <a:latin typeface="Calibri"/>
                        </a:rPr>
                        <a:t>0.9297</a:t>
                      </a:r>
                    </a:p>
                  </a:txBody>
                  <a:tcPr marL="73152" marR="73152" anchor="ctr">
                    <a:solidFill>
                      <a:srgbClr val="FFFFFF"/>
                    </a:solidFill>
                  </a:tcPr>
                </a:tc>
                <a:tc>
                  <a:txBody>
                    <a:bodyPr/>
                    <a:lstStyle/>
                    <a:p>
                      <a:pPr algn="ctr"/>
                      <a:r>
                        <a:rPr sz="1800">
                          <a:solidFill>
                            <a:srgbClr val="1F2A44"/>
                          </a:solidFill>
                          <a:latin typeface="Calibri"/>
                        </a:rPr>
                        <a:t>81.7%</a:t>
                      </a:r>
                    </a:p>
                  </a:txBody>
                  <a:tcPr marL="73152" marR="73152" anchor="ctr">
                    <a:solidFill>
                      <a:srgbClr val="FFFFFF"/>
                    </a:solidFill>
                  </a:tcPr>
                </a:tc>
                <a:tc>
                  <a:txBody>
                    <a:bodyPr/>
                    <a:lstStyle/>
                    <a:p>
                      <a:pPr algn="ctr"/>
                      <a:r>
                        <a:rPr sz="1800">
                          <a:solidFill>
                            <a:srgbClr val="1F2A44"/>
                          </a:solidFill>
                          <a:latin typeface="Calibri"/>
                        </a:rPr>
                        <a:t>-</a:t>
                      </a:r>
                    </a:p>
                  </a:txBody>
                  <a:tcPr marL="73152" marR="73152" anchor="ctr">
                    <a:solidFill>
                      <a:srgbClr val="FFFFFF"/>
                    </a:solidFill>
                  </a:tcPr>
                </a:tc>
              </a:tr>
              <a:tr h="502920">
                <a:tc>
                  <a:txBody>
                    <a:bodyPr/>
                    <a:lstStyle/>
                    <a:p>
                      <a:pPr algn="l"/>
                      <a:r>
                        <a:rPr sz="1800">
                          <a:solidFill>
                            <a:srgbClr val="1F2A44"/>
                          </a:solidFill>
                          <a:latin typeface="Calibri"/>
                        </a:rPr>
                        <a:t>Grid search</a:t>
                      </a:r>
                    </a:p>
                  </a:txBody>
                  <a:tcPr marL="73152" marR="73152" anchor="ctr">
                    <a:solidFill>
                      <a:srgbClr val="EEF1F6"/>
                    </a:solidFill>
                  </a:tcPr>
                </a:tc>
                <a:tc>
                  <a:txBody>
                    <a:bodyPr/>
                    <a:lstStyle/>
                    <a:p>
                      <a:pPr algn="ctr"/>
                      <a:r>
                        <a:rPr sz="1800">
                          <a:solidFill>
                            <a:srgbClr val="1F2A44"/>
                          </a:solidFill>
                          <a:latin typeface="Calibri"/>
                        </a:rPr>
                        <a:t>36</a:t>
                      </a:r>
                    </a:p>
                  </a:txBody>
                  <a:tcPr marL="73152" marR="73152" anchor="ctr">
                    <a:solidFill>
                      <a:srgbClr val="EEF1F6"/>
                    </a:solidFill>
                  </a:tcPr>
                </a:tc>
                <a:tc>
                  <a:txBody>
                    <a:bodyPr/>
                    <a:lstStyle/>
                    <a:p>
                      <a:pPr algn="ctr"/>
                      <a:r>
                        <a:rPr sz="1800">
                          <a:solidFill>
                            <a:srgbClr val="1F2A44"/>
                          </a:solidFill>
                          <a:latin typeface="Calibri"/>
                        </a:rPr>
                        <a:t>0.9977</a:t>
                      </a:r>
                    </a:p>
                  </a:txBody>
                  <a:tcPr marL="73152" marR="73152" anchor="ctr">
                    <a:solidFill>
                      <a:srgbClr val="EEF1F6"/>
                    </a:solidFill>
                  </a:tcPr>
                </a:tc>
                <a:tc>
                  <a:txBody>
                    <a:bodyPr/>
                    <a:lstStyle/>
                    <a:p>
                      <a:pPr algn="ctr"/>
                      <a:r>
                        <a:rPr sz="1800">
                          <a:solidFill>
                            <a:srgbClr val="1F2A44"/>
                          </a:solidFill>
                          <a:latin typeface="Calibri"/>
                        </a:rPr>
                        <a:t>0.9991</a:t>
                      </a:r>
                    </a:p>
                  </a:txBody>
                  <a:tcPr marL="73152" marR="73152" anchor="ctr">
                    <a:solidFill>
                      <a:srgbClr val="EEF1F6"/>
                    </a:solidFill>
                  </a:tcPr>
                </a:tc>
                <a:tc>
                  <a:txBody>
                    <a:bodyPr/>
                    <a:lstStyle/>
                    <a:p>
                      <a:pPr algn="ctr"/>
                      <a:r>
                        <a:rPr sz="1800">
                          <a:solidFill>
                            <a:srgbClr val="1F2A44"/>
                          </a:solidFill>
                          <a:latin typeface="Calibri"/>
                        </a:rPr>
                        <a:t>0.9980</a:t>
                      </a:r>
                    </a:p>
                  </a:txBody>
                  <a:tcPr marL="73152" marR="73152" anchor="ctr">
                    <a:solidFill>
                      <a:srgbClr val="EEF1F6"/>
                    </a:solidFill>
                  </a:tcPr>
                </a:tc>
                <a:tc>
                  <a:txBody>
                    <a:bodyPr/>
                    <a:lstStyle/>
                    <a:p>
                      <a:pPr algn="ctr"/>
                      <a:r>
                        <a:rPr sz="1800">
                          <a:solidFill>
                            <a:srgbClr val="1F2A44"/>
                          </a:solidFill>
                          <a:latin typeface="Calibri"/>
                        </a:rPr>
                        <a:t>97.4%</a:t>
                      </a:r>
                    </a:p>
                  </a:txBody>
                  <a:tcPr marL="73152" marR="73152" anchor="ctr">
                    <a:solidFill>
                      <a:srgbClr val="EEF1F6"/>
                    </a:solidFill>
                  </a:tcPr>
                </a:tc>
                <a:tc>
                  <a:txBody>
                    <a:bodyPr/>
                    <a:lstStyle/>
                    <a:p>
                      <a:pPr algn="ctr"/>
                      <a:r>
                        <a:rPr sz="1800">
                          <a:solidFill>
                            <a:srgbClr val="1F2A44"/>
                          </a:solidFill>
                          <a:latin typeface="Calibri"/>
                        </a:rPr>
                        <a:t>113.3</a:t>
                      </a:r>
                    </a:p>
                  </a:txBody>
                  <a:tcPr marL="73152" marR="73152" anchor="ctr">
                    <a:solidFill>
                      <a:srgbClr val="EEF1F6"/>
                    </a:solidFill>
                  </a:tcPr>
                </a:tc>
              </a:tr>
              <a:tr h="502920">
                <a:tc>
                  <a:txBody>
                    <a:bodyPr/>
                    <a:lstStyle/>
                    <a:p>
                      <a:pPr algn="l"/>
                      <a:r>
                        <a:rPr sz="1800">
                          <a:solidFill>
                            <a:srgbClr val="1F2A44"/>
                          </a:solidFill>
                          <a:latin typeface="Calibri"/>
                        </a:rPr>
                        <a:t>Random search</a:t>
                      </a:r>
                    </a:p>
                  </a:txBody>
                  <a:tcPr marL="73152" marR="73152" anchor="ctr">
                    <a:solidFill>
                      <a:srgbClr val="FFFFFF"/>
                    </a:solidFill>
                  </a:tcPr>
                </a:tc>
                <a:tc>
                  <a:txBody>
                    <a:bodyPr/>
                    <a:lstStyle/>
                    <a:p>
                      <a:pPr algn="ctr"/>
                      <a:r>
                        <a:rPr sz="1800">
                          <a:solidFill>
                            <a:srgbClr val="1F2A44"/>
                          </a:solidFill>
                          <a:latin typeface="Calibri"/>
                        </a:rPr>
                        <a:t>36</a:t>
                      </a:r>
                    </a:p>
                  </a:txBody>
                  <a:tcPr marL="73152" marR="73152" anchor="ctr">
                    <a:solidFill>
                      <a:srgbClr val="FFFFFF"/>
                    </a:solidFill>
                  </a:tcPr>
                </a:tc>
                <a:tc>
                  <a:txBody>
                    <a:bodyPr/>
                    <a:lstStyle/>
                    <a:p>
                      <a:pPr algn="ctr"/>
                      <a:r>
                        <a:rPr sz="1800">
                          <a:solidFill>
                            <a:srgbClr val="1F2A44"/>
                          </a:solidFill>
                          <a:latin typeface="Calibri"/>
                        </a:rPr>
                        <a:t>0.9977</a:t>
                      </a:r>
                    </a:p>
                  </a:txBody>
                  <a:tcPr marL="73152" marR="73152" anchor="ctr">
                    <a:solidFill>
                      <a:srgbClr val="FFFFFF"/>
                    </a:solidFill>
                  </a:tcPr>
                </a:tc>
                <a:tc>
                  <a:txBody>
                    <a:bodyPr/>
                    <a:lstStyle/>
                    <a:p>
                      <a:pPr algn="ctr"/>
                      <a:r>
                        <a:rPr sz="1800">
                          <a:solidFill>
                            <a:srgbClr val="1F2A44"/>
                          </a:solidFill>
                          <a:latin typeface="Calibri"/>
                        </a:rPr>
                        <a:t>0.9990</a:t>
                      </a:r>
                    </a:p>
                  </a:txBody>
                  <a:tcPr marL="73152" marR="73152" anchor="ctr">
                    <a:solidFill>
                      <a:srgbClr val="FFFFFF"/>
                    </a:solidFill>
                  </a:tcPr>
                </a:tc>
                <a:tc>
                  <a:txBody>
                    <a:bodyPr/>
                    <a:lstStyle/>
                    <a:p>
                      <a:pPr algn="ctr"/>
                      <a:r>
                        <a:rPr sz="1800">
                          <a:solidFill>
                            <a:srgbClr val="1F2A44"/>
                          </a:solidFill>
                          <a:latin typeface="Calibri"/>
                        </a:rPr>
                        <a:t>0.9980</a:t>
                      </a:r>
                    </a:p>
                  </a:txBody>
                  <a:tcPr marL="73152" marR="73152" anchor="ctr">
                    <a:solidFill>
                      <a:srgbClr val="FFFFFF"/>
                    </a:solidFill>
                  </a:tcPr>
                </a:tc>
                <a:tc>
                  <a:txBody>
                    <a:bodyPr/>
                    <a:lstStyle/>
                    <a:p>
                      <a:pPr algn="ctr"/>
                      <a:r>
                        <a:rPr sz="1800">
                          <a:solidFill>
                            <a:srgbClr val="1F2A44"/>
                          </a:solidFill>
                          <a:latin typeface="Calibri"/>
                        </a:rPr>
                        <a:t>97.5%</a:t>
                      </a:r>
                    </a:p>
                  </a:txBody>
                  <a:tcPr marL="73152" marR="73152" anchor="ctr">
                    <a:solidFill>
                      <a:srgbClr val="FFFFFF"/>
                    </a:solidFill>
                  </a:tcPr>
                </a:tc>
                <a:tc>
                  <a:txBody>
                    <a:bodyPr/>
                    <a:lstStyle/>
                    <a:p>
                      <a:pPr algn="ctr"/>
                      <a:r>
                        <a:rPr sz="1800">
                          <a:solidFill>
                            <a:srgbClr val="1F2A44"/>
                          </a:solidFill>
                          <a:latin typeface="Calibri"/>
                        </a:rPr>
                        <a:t>89.2</a:t>
                      </a:r>
                    </a:p>
                  </a:txBody>
                  <a:tcPr marL="73152" marR="73152" anchor="ctr">
                    <a:solidFill>
                      <a:srgbClr val="FFFFFF"/>
                    </a:solidFill>
                  </a:tcPr>
                </a:tc>
              </a:tr>
              <a:tr h="502920">
                <a:tc>
                  <a:txBody>
                    <a:bodyPr/>
                    <a:lstStyle/>
                    <a:p>
                      <a:pPr algn="l"/>
                      <a:r>
                        <a:rPr sz="1800" b="1">
                          <a:solidFill>
                            <a:srgbClr val="1F2A44"/>
                          </a:solidFill>
                          <a:latin typeface="Calibri"/>
                        </a:rPr>
                        <a:t>Optuna (TPE)</a:t>
                      </a:r>
                    </a:p>
                  </a:txBody>
                  <a:tcPr marL="73152" marR="73152" anchor="ctr">
                    <a:solidFill>
                      <a:srgbClr val="FBE3D3"/>
                    </a:solidFill>
                  </a:tcPr>
                </a:tc>
                <a:tc>
                  <a:txBody>
                    <a:bodyPr/>
                    <a:lstStyle/>
                    <a:p>
                      <a:pPr algn="ctr"/>
                      <a:r>
                        <a:rPr sz="1800" b="1">
                          <a:solidFill>
                            <a:srgbClr val="1F2A44"/>
                          </a:solidFill>
                          <a:latin typeface="Calibri"/>
                        </a:rPr>
                        <a:t>36</a:t>
                      </a:r>
                    </a:p>
                  </a:txBody>
                  <a:tcPr marL="73152" marR="73152" anchor="ctr">
                    <a:solidFill>
                      <a:srgbClr val="FBE3D3"/>
                    </a:solidFill>
                  </a:tcPr>
                </a:tc>
                <a:tc>
                  <a:txBody>
                    <a:bodyPr/>
                    <a:lstStyle/>
                    <a:p>
                      <a:pPr algn="ctr"/>
                      <a:r>
                        <a:rPr sz="1800" b="1">
                          <a:solidFill>
                            <a:srgbClr val="1F2A44"/>
                          </a:solidFill>
                          <a:latin typeface="Calibri"/>
                        </a:rPr>
                        <a:t>0.9978</a:t>
                      </a:r>
                    </a:p>
                  </a:txBody>
                  <a:tcPr marL="73152" marR="73152" anchor="ctr">
                    <a:solidFill>
                      <a:srgbClr val="FBE3D3"/>
                    </a:solidFill>
                  </a:tcPr>
                </a:tc>
                <a:tc>
                  <a:txBody>
                    <a:bodyPr/>
                    <a:lstStyle/>
                    <a:p>
                      <a:pPr algn="ctr"/>
                      <a:r>
                        <a:rPr sz="1800" b="1">
                          <a:solidFill>
                            <a:srgbClr val="1F2A44"/>
                          </a:solidFill>
                          <a:latin typeface="Calibri"/>
                        </a:rPr>
                        <a:t>0.9991</a:t>
                      </a:r>
                    </a:p>
                  </a:txBody>
                  <a:tcPr marL="73152" marR="73152" anchor="ctr">
                    <a:solidFill>
                      <a:srgbClr val="FBE3D3"/>
                    </a:solidFill>
                  </a:tcPr>
                </a:tc>
                <a:tc>
                  <a:txBody>
                    <a:bodyPr/>
                    <a:lstStyle/>
                    <a:p>
                      <a:pPr algn="ctr"/>
                      <a:r>
                        <a:rPr sz="1800" b="1">
                          <a:solidFill>
                            <a:srgbClr val="1F2A44"/>
                          </a:solidFill>
                          <a:latin typeface="Calibri"/>
                        </a:rPr>
                        <a:t>0.9981</a:t>
                      </a:r>
                    </a:p>
                  </a:txBody>
                  <a:tcPr marL="73152" marR="73152" anchor="ctr">
                    <a:solidFill>
                      <a:srgbClr val="FBE3D3"/>
                    </a:solidFill>
                  </a:tcPr>
                </a:tc>
                <a:tc>
                  <a:txBody>
                    <a:bodyPr/>
                    <a:lstStyle/>
                    <a:p>
                      <a:pPr algn="ctr"/>
                      <a:r>
                        <a:rPr sz="1800" b="1">
                          <a:solidFill>
                            <a:srgbClr val="1F2A44"/>
                          </a:solidFill>
                          <a:latin typeface="Calibri"/>
                        </a:rPr>
                        <a:t>97.6%</a:t>
                      </a:r>
                    </a:p>
                  </a:txBody>
                  <a:tcPr marL="73152" marR="73152" anchor="ctr">
                    <a:solidFill>
                      <a:srgbClr val="FBE3D3"/>
                    </a:solidFill>
                  </a:tcPr>
                </a:tc>
                <a:tc>
                  <a:txBody>
                    <a:bodyPr/>
                    <a:lstStyle/>
                    <a:p>
                      <a:pPr algn="ctr"/>
                      <a:r>
                        <a:rPr sz="1800" b="1">
                          <a:solidFill>
                            <a:srgbClr val="1F2A44"/>
                          </a:solidFill>
                          <a:latin typeface="Calibri"/>
                        </a:rPr>
                        <a:t>74.3</a:t>
                      </a:r>
                    </a:p>
                  </a:txBody>
                  <a:tcPr marL="73152" marR="73152" anchor="ctr">
                    <a:solidFill>
                      <a:srgbClr val="FBE3D3"/>
                    </a:solidFill>
                  </a:tcPr>
                </a:tc>
              </a:tr>
            </a:tbl>
          </a:graphicData>
        </a:graphic>
      </p:graphicFrame>
      <p:sp>
        <p:nvSpPr>
          <p:cNvPr id="6" name="TextBox 5"/>
          <p:cNvSpPr txBox="1"/>
          <p:nvPr/>
        </p:nvSpPr>
        <p:spPr>
          <a:xfrm>
            <a:off x="457200" y="4480560"/>
            <a:ext cx="11247120" cy="1737360"/>
          </a:xfrm>
          <a:prstGeom prst="rect">
            <a:avLst/>
          </a:prstGeom>
          <a:noFill/>
        </p:spPr>
        <p:txBody>
          <a:bodyPr wrap="square" anchor="t">
            <a:spAutoFit/>
          </a:bodyPr>
          <a:lstStyle/>
          <a:p>
            <a:pPr algn="l">
              <a:spcAft>
                <a:spcPts val="800"/>
              </a:spcAft>
            </a:pPr>
            <a:r>
              <a:rPr sz="2000" b="1">
                <a:solidFill>
                  <a:srgbClr val="1F2A44"/>
                </a:solidFill>
                <a:latin typeface="Calibri"/>
              </a:rPr>
              <a:t>Selected by CV AUC (never by a test score): </a:t>
            </a:r>
            <a:r>
              <a:rPr sz="2000" b="0">
                <a:solidFill>
                  <a:srgbClr val="1F2A44"/>
                </a:solidFill>
                <a:latin typeface="Calibri"/>
              </a:rPr>
              <a:t>Optuna (TPE).</a:t>
            </a:r>
          </a:p>
          <a:p>
            <a:pPr algn="l">
              <a:spcAft>
                <a:spcPts val="800"/>
              </a:spcAft>
            </a:pPr>
            <a:r>
              <a:rPr sz="2000" b="1">
                <a:solidFill>
                  <a:srgbClr val="1F2A44"/>
                </a:solidFill>
                <a:latin typeface="Calibri"/>
              </a:rPr>
              <a:t>Tuning beats defaults: </a:t>
            </a:r>
            <a:r>
              <a:rPr sz="2000" b="0">
                <a:solidFill>
                  <a:srgbClr val="1F2A44"/>
                </a:solidFill>
                <a:latin typeface="Calibri"/>
              </a:rPr>
              <a:t>TPR@1%FPR on test_future 95.1% -&gt; 97.6%; the three tuners differ by at most 0.00015 AUC on test_future.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31520"/>
          </a:xfrm>
          <a:prstGeom prst="rect">
            <a:avLst/>
          </a:prstGeom>
          <a:noFill/>
        </p:spPr>
        <p:txBody>
          <a:bodyPr wrap="square" anchor="ctr">
            <a:spAutoFit/>
          </a:bodyPr>
          <a:lstStyle/>
          <a:p>
            <a:pPr algn="l">
              <a:spcAft>
                <a:spcPts val="800"/>
              </a:spcAft>
            </a:pPr>
            <a:r>
              <a:rPr sz="3000" b="1">
                <a:solidFill>
                  <a:srgbClr val="FFFFFF"/>
                </a:solidFill>
                <a:latin typeface="Calibri"/>
              </a:rPr>
              <a:t>Step 3: AutoML vs manual (20-minute budget per tool)</a:t>
            </a:r>
          </a:p>
        </p:txBody>
      </p:sp>
      <p:sp>
        <p:nvSpPr>
          <p:cNvPr id="4" name="TextBox 3"/>
          <p:cNvSpPr txBox="1"/>
          <p:nvPr/>
        </p:nvSpPr>
        <p:spPr>
          <a:xfrm>
            <a:off x="457200" y="6446520"/>
            <a:ext cx="11277295" cy="320040"/>
          </a:xfrm>
          <a:prstGeom prst="rect">
            <a:avLst/>
          </a:prstGeom>
          <a:noFill/>
        </p:spPr>
        <p:txBody>
          <a:bodyPr wrap="square" anchor="t">
            <a:spAutoFit/>
          </a:bodyPr>
          <a:lstStyle/>
          <a:p>
            <a:pPr algn="l">
              <a:spcAft>
                <a:spcPts val="800"/>
              </a:spcAft>
            </a:pPr>
            <a:r>
              <a:rPr sz="1200" b="0">
                <a:solidFill>
                  <a:srgbClr val="5F6673"/>
                </a:solidFill>
                <a:latin typeface="Calibri"/>
              </a:rPr>
              <a:t>Source: reports/tables/automl_vs_manual.csv, automl_pairwise.csv; scores on test_future; AUC vs tuned = paired bootstrap, 95% CI; 16-core laptop</a:t>
            </a:r>
          </a:p>
        </p:txBody>
      </p:sp>
      <p:graphicFrame>
        <p:nvGraphicFramePr>
          <p:cNvPr id="5" name="Table 4"/>
          <p:cNvGraphicFramePr>
            <a:graphicFrameLocks noGrp="1"/>
          </p:cNvGraphicFramePr>
          <p:nvPr/>
        </p:nvGraphicFramePr>
        <p:xfrm>
          <a:off x="457200" y="1188720"/>
          <a:ext cx="11247120" cy="3017520"/>
        </p:xfrm>
        <a:graphic>
          <a:graphicData uri="http://schemas.openxmlformats.org/drawingml/2006/table">
            <a:tbl>
              <a:tblPr firstRow="1" bandRow="1">
                <a:tableStyleId>{5C22544A-7EE6-4342-B048-85BDC9FD1C3A}</a:tableStyleId>
              </a:tblPr>
              <a:tblGrid>
                <a:gridCol w="2011680"/>
                <a:gridCol w="3383280"/>
                <a:gridCol w="1005840"/>
                <a:gridCol w="1371600"/>
                <a:gridCol w="1371600"/>
                <a:gridCol w="2103120"/>
              </a:tblGrid>
              <a:tr h="502920">
                <a:tc>
                  <a:txBody>
                    <a:bodyPr/>
                    <a:lstStyle/>
                    <a:p>
                      <a:pPr algn="l"/>
                      <a:r>
                        <a:rPr sz="1800" b="1">
                          <a:solidFill>
                            <a:srgbClr val="FFFFFF"/>
                          </a:solidFill>
                          <a:latin typeface="Calibri"/>
                        </a:rPr>
                        <a:t>model</a:t>
                      </a:r>
                    </a:p>
                  </a:txBody>
                  <a:tcPr marL="73152" marR="73152" anchor="ctr">
                    <a:solidFill>
                      <a:srgbClr val="1F2A44"/>
                    </a:solidFill>
                  </a:tcPr>
                </a:tc>
                <a:tc>
                  <a:txBody>
                    <a:bodyPr/>
                    <a:lstStyle/>
                    <a:p>
                      <a:pPr algn="ctr"/>
                      <a:r>
                        <a:rPr sz="1800" b="1">
                          <a:solidFill>
                            <a:srgbClr val="FFFFFF"/>
                          </a:solidFill>
                          <a:latin typeface="Calibri"/>
                        </a:rPr>
                        <a:t>winner</a:t>
                      </a:r>
                    </a:p>
                  </a:txBody>
                  <a:tcPr marL="73152" marR="73152" anchor="ctr">
                    <a:solidFill>
                      <a:srgbClr val="1F2A44"/>
                    </a:solidFill>
                  </a:tcPr>
                </a:tc>
                <a:tc>
                  <a:txBody>
                    <a:bodyPr/>
                    <a:lstStyle/>
                    <a:p>
                      <a:pPr algn="ctr"/>
                      <a:r>
                        <a:rPr sz="1800" b="1">
                          <a:solidFill>
                            <a:srgbClr val="FFFFFF"/>
                          </a:solidFill>
                          <a:latin typeface="Calibri"/>
                        </a:rPr>
                        <a:t>wall min</a:t>
                      </a:r>
                    </a:p>
                  </a:txBody>
                  <a:tcPr marL="73152" marR="73152" anchor="ctr">
                    <a:solidFill>
                      <a:srgbClr val="1F2A44"/>
                    </a:solidFill>
                  </a:tcPr>
                </a:tc>
                <a:tc>
                  <a:txBody>
                    <a:bodyPr/>
                    <a:lstStyle/>
                    <a:p>
                      <a:pPr algn="ctr"/>
                      <a:r>
                        <a:rPr sz="1800" b="1">
                          <a:solidFill>
                            <a:srgbClr val="FFFFFF"/>
                          </a:solidFill>
                          <a:latin typeface="Calibri"/>
                        </a:rPr>
                        <a:t>AUC future</a:t>
                      </a:r>
                    </a:p>
                  </a:txBody>
                  <a:tcPr marL="73152" marR="73152" anchor="ctr">
                    <a:solidFill>
                      <a:srgbClr val="1F2A44"/>
                    </a:solidFill>
                  </a:tcPr>
                </a:tc>
                <a:tc>
                  <a:txBody>
                    <a:bodyPr/>
                    <a:lstStyle/>
                    <a:p>
                      <a:pPr algn="ctr"/>
                      <a:r>
                        <a:rPr sz="1800" b="1">
                          <a:solidFill>
                            <a:srgbClr val="FFFFFF"/>
                          </a:solidFill>
                          <a:latin typeface="Calibri"/>
                        </a:rPr>
                        <a:t>TPR@1%FPR</a:t>
                      </a:r>
                    </a:p>
                  </a:txBody>
                  <a:tcPr marL="73152" marR="73152" anchor="ctr">
                    <a:solidFill>
                      <a:srgbClr val="1F2A44"/>
                    </a:solidFill>
                  </a:tcPr>
                </a:tc>
                <a:tc>
                  <a:txBody>
                    <a:bodyPr/>
                    <a:lstStyle/>
                    <a:p>
                      <a:pPr algn="ctr"/>
                      <a:r>
                        <a:rPr sz="1800" b="1">
                          <a:solidFill>
                            <a:srgbClr val="FFFFFF"/>
                          </a:solidFill>
                          <a:latin typeface="Calibri"/>
                        </a:rPr>
                        <a:t>AUC vs tuned</a:t>
                      </a:r>
                    </a:p>
                  </a:txBody>
                  <a:tcPr marL="73152" marR="73152" anchor="ctr">
                    <a:solidFill>
                      <a:srgbClr val="1F2A44"/>
                    </a:solidFill>
                  </a:tcPr>
                </a:tc>
              </a:tr>
              <a:tr h="502920">
                <a:tc>
                  <a:txBody>
                    <a:bodyPr/>
                    <a:lstStyle/>
                    <a:p>
                      <a:pPr algn="l"/>
                      <a:r>
                        <a:rPr sz="1800">
                          <a:solidFill>
                            <a:srgbClr val="1F2A44"/>
                          </a:solidFill>
                          <a:latin typeface="Calibri"/>
                        </a:rPr>
                        <a:t>FLAML</a:t>
                      </a:r>
                    </a:p>
                  </a:txBody>
                  <a:tcPr marL="73152" marR="73152" anchor="ctr">
                    <a:solidFill>
                      <a:srgbClr val="EEF1F6"/>
                    </a:solidFill>
                  </a:tcPr>
                </a:tc>
                <a:tc>
                  <a:txBody>
                    <a:bodyPr/>
                    <a:lstStyle/>
                    <a:p>
                      <a:pPr algn="ctr"/>
                      <a:r>
                        <a:rPr sz="1800">
                          <a:solidFill>
                            <a:srgbClr val="1F2A44"/>
                          </a:solidFill>
                          <a:latin typeface="Calibri"/>
                        </a:rPr>
                        <a:t>xgb limitdepth</a:t>
                      </a:r>
                    </a:p>
                  </a:txBody>
                  <a:tcPr marL="73152" marR="73152" anchor="ctr">
                    <a:solidFill>
                      <a:srgbClr val="EEF1F6"/>
                    </a:solidFill>
                  </a:tcPr>
                </a:tc>
                <a:tc>
                  <a:txBody>
                    <a:bodyPr/>
                    <a:lstStyle/>
                    <a:p>
                      <a:pPr algn="ctr"/>
                      <a:r>
                        <a:rPr sz="1800">
                          <a:solidFill>
                            <a:srgbClr val="1F2A44"/>
                          </a:solidFill>
                          <a:latin typeface="Calibri"/>
                        </a:rPr>
                        <a:t>25.7</a:t>
                      </a:r>
                    </a:p>
                  </a:txBody>
                  <a:tcPr marL="73152" marR="73152" anchor="ctr">
                    <a:solidFill>
                      <a:srgbClr val="EEF1F6"/>
                    </a:solidFill>
                  </a:tcPr>
                </a:tc>
                <a:tc>
                  <a:txBody>
                    <a:bodyPr/>
                    <a:lstStyle/>
                    <a:p>
                      <a:pPr algn="ctr"/>
                      <a:r>
                        <a:rPr sz="1800">
                          <a:solidFill>
                            <a:srgbClr val="1F2A44"/>
                          </a:solidFill>
                          <a:latin typeface="Calibri"/>
                        </a:rPr>
                        <a:t>0.9976</a:t>
                      </a:r>
                    </a:p>
                  </a:txBody>
                  <a:tcPr marL="73152" marR="73152" anchor="ctr">
                    <a:solidFill>
                      <a:srgbClr val="EEF1F6"/>
                    </a:solidFill>
                  </a:tcPr>
                </a:tc>
                <a:tc>
                  <a:txBody>
                    <a:bodyPr/>
                    <a:lstStyle/>
                    <a:p>
                      <a:pPr algn="ctr"/>
                      <a:r>
                        <a:rPr sz="1800">
                          <a:solidFill>
                            <a:srgbClr val="1F2A44"/>
                          </a:solidFill>
                          <a:latin typeface="Calibri"/>
                        </a:rPr>
                        <a:t>96.5%</a:t>
                      </a:r>
                    </a:p>
                  </a:txBody>
                  <a:tcPr marL="73152" marR="73152" anchor="ctr">
                    <a:solidFill>
                      <a:srgbClr val="EEF1F6"/>
                    </a:solidFill>
                  </a:tcPr>
                </a:tc>
                <a:tc>
                  <a:txBody>
                    <a:bodyPr/>
                    <a:lstStyle/>
                    <a:p>
                      <a:pPr algn="ctr"/>
                      <a:r>
                        <a:rPr sz="1800">
                          <a:solidFill>
                            <a:srgbClr val="1F2A44"/>
                          </a:solidFill>
                          <a:latin typeface="Calibri"/>
                        </a:rPr>
                        <a:t>-0.00053 (worse)</a:t>
                      </a:r>
                    </a:p>
                  </a:txBody>
                  <a:tcPr marL="73152" marR="73152" anchor="ctr">
                    <a:solidFill>
                      <a:srgbClr val="EEF1F6"/>
                    </a:solidFill>
                  </a:tcPr>
                </a:tc>
              </a:tr>
              <a:tr h="502920">
                <a:tc>
                  <a:txBody>
                    <a:bodyPr/>
                    <a:lstStyle/>
                    <a:p>
                      <a:pPr algn="l"/>
                      <a:r>
                        <a:rPr sz="1800">
                          <a:solidFill>
                            <a:srgbClr val="1F2A44"/>
                          </a:solidFill>
                          <a:latin typeface="Calibri"/>
                        </a:rPr>
                        <a:t>AutoGluon</a:t>
                      </a:r>
                    </a:p>
                  </a:txBody>
                  <a:tcPr marL="73152" marR="73152" anchor="ctr">
                    <a:solidFill>
                      <a:srgbClr val="FFFFFF"/>
                    </a:solidFill>
                  </a:tcPr>
                </a:tc>
                <a:tc>
                  <a:txBody>
                    <a:bodyPr/>
                    <a:lstStyle/>
                    <a:p>
                      <a:pPr algn="ctr"/>
                      <a:r>
                        <a:rPr sz="1800">
                          <a:solidFill>
                            <a:srgbClr val="1F2A44"/>
                          </a:solidFill>
                          <a:latin typeface="Calibri"/>
                        </a:rPr>
                        <a:t>WeightedEnsemble L2</a:t>
                      </a:r>
                    </a:p>
                  </a:txBody>
                  <a:tcPr marL="73152" marR="73152" anchor="ctr">
                    <a:solidFill>
                      <a:srgbClr val="FFFFFF"/>
                    </a:solidFill>
                  </a:tcPr>
                </a:tc>
                <a:tc>
                  <a:txBody>
                    <a:bodyPr/>
                    <a:lstStyle/>
                    <a:p>
                      <a:pPr algn="ctr"/>
                      <a:r>
                        <a:rPr sz="1800">
                          <a:solidFill>
                            <a:srgbClr val="1F2A44"/>
                          </a:solidFill>
                          <a:latin typeface="Calibri"/>
                        </a:rPr>
                        <a:t>20.2</a:t>
                      </a:r>
                    </a:p>
                  </a:txBody>
                  <a:tcPr marL="73152" marR="73152" anchor="ctr">
                    <a:solidFill>
                      <a:srgbClr val="FFFFFF"/>
                    </a:solidFill>
                  </a:tcPr>
                </a:tc>
                <a:tc>
                  <a:txBody>
                    <a:bodyPr/>
                    <a:lstStyle/>
                    <a:p>
                      <a:pPr algn="ctr"/>
                      <a:r>
                        <a:rPr sz="1800">
                          <a:solidFill>
                            <a:srgbClr val="1F2A44"/>
                          </a:solidFill>
                          <a:latin typeface="Calibri"/>
                        </a:rPr>
                        <a:t>0.9980</a:t>
                      </a:r>
                    </a:p>
                  </a:txBody>
                  <a:tcPr marL="73152" marR="73152" anchor="ctr">
                    <a:solidFill>
                      <a:srgbClr val="FFFFFF"/>
                    </a:solidFill>
                  </a:tcPr>
                </a:tc>
                <a:tc>
                  <a:txBody>
                    <a:bodyPr/>
                    <a:lstStyle/>
                    <a:p>
                      <a:pPr algn="ctr"/>
                      <a:r>
                        <a:rPr sz="1800">
                          <a:solidFill>
                            <a:srgbClr val="1F2A44"/>
                          </a:solidFill>
                          <a:latin typeface="Calibri"/>
                        </a:rPr>
                        <a:t>97.6%</a:t>
                      </a:r>
                    </a:p>
                  </a:txBody>
                  <a:tcPr marL="73152" marR="73152" anchor="ctr">
                    <a:solidFill>
                      <a:srgbClr val="FFFFFF"/>
                    </a:solidFill>
                  </a:tcPr>
                </a:tc>
                <a:tc>
                  <a:txBody>
                    <a:bodyPr/>
                    <a:lstStyle/>
                    <a:p>
                      <a:pPr algn="ctr"/>
                      <a:r>
                        <a:rPr sz="1800">
                          <a:solidFill>
                            <a:srgbClr val="1F2A44"/>
                          </a:solidFill>
                          <a:latin typeface="Calibri"/>
                        </a:rPr>
                        <a:t>-0.00006 (tied)</a:t>
                      </a:r>
                    </a:p>
                  </a:txBody>
                  <a:tcPr marL="73152" marR="73152" anchor="ctr">
                    <a:solidFill>
                      <a:srgbClr val="FFFFFF"/>
                    </a:solidFill>
                  </a:tcPr>
                </a:tc>
              </a:tr>
              <a:tr h="502920">
                <a:tc>
                  <a:txBody>
                    <a:bodyPr/>
                    <a:lstStyle/>
                    <a:p>
                      <a:pPr algn="l"/>
                      <a:r>
                        <a:rPr sz="1800">
                          <a:solidFill>
                            <a:srgbClr val="1F2A44"/>
                          </a:solidFill>
                          <a:latin typeface="Calibri"/>
                        </a:rPr>
                        <a:t>H2O AutoML</a:t>
                      </a:r>
                    </a:p>
                  </a:txBody>
                  <a:tcPr marL="73152" marR="73152" anchor="ctr">
                    <a:solidFill>
                      <a:srgbClr val="EEF1F6"/>
                    </a:solidFill>
                  </a:tcPr>
                </a:tc>
                <a:tc>
                  <a:txBody>
                    <a:bodyPr/>
                    <a:lstStyle/>
                    <a:p>
                      <a:pPr algn="ctr"/>
                      <a:r>
                        <a:rPr sz="1800">
                          <a:solidFill>
                            <a:srgbClr val="1F2A44"/>
                          </a:solidFill>
                          <a:latin typeface="Calibri"/>
                        </a:rPr>
                        <a:t>StackedEnsemble BestOfFamily</a:t>
                      </a:r>
                    </a:p>
                  </a:txBody>
                  <a:tcPr marL="73152" marR="73152" anchor="ctr">
                    <a:solidFill>
                      <a:srgbClr val="EEF1F6"/>
                    </a:solidFill>
                  </a:tcPr>
                </a:tc>
                <a:tc>
                  <a:txBody>
                    <a:bodyPr/>
                    <a:lstStyle/>
                    <a:p>
                      <a:pPr algn="ctr"/>
                      <a:r>
                        <a:rPr sz="1800">
                          <a:solidFill>
                            <a:srgbClr val="1F2A44"/>
                          </a:solidFill>
                          <a:latin typeface="Calibri"/>
                        </a:rPr>
                        <a:t>24.8</a:t>
                      </a:r>
                    </a:p>
                  </a:txBody>
                  <a:tcPr marL="73152" marR="73152" anchor="ctr">
                    <a:solidFill>
                      <a:srgbClr val="EEF1F6"/>
                    </a:solidFill>
                  </a:tcPr>
                </a:tc>
                <a:tc>
                  <a:txBody>
                    <a:bodyPr/>
                    <a:lstStyle/>
                    <a:p>
                      <a:pPr algn="ctr"/>
                      <a:r>
                        <a:rPr sz="1800">
                          <a:solidFill>
                            <a:srgbClr val="1F2A44"/>
                          </a:solidFill>
                          <a:latin typeface="Calibri"/>
                        </a:rPr>
                        <a:t>0.9970</a:t>
                      </a:r>
                    </a:p>
                  </a:txBody>
                  <a:tcPr marL="73152" marR="73152" anchor="ctr">
                    <a:solidFill>
                      <a:srgbClr val="EEF1F6"/>
                    </a:solidFill>
                  </a:tcPr>
                </a:tc>
                <a:tc>
                  <a:txBody>
                    <a:bodyPr/>
                    <a:lstStyle/>
                    <a:p>
                      <a:pPr algn="ctr"/>
                      <a:r>
                        <a:rPr sz="1800">
                          <a:solidFill>
                            <a:srgbClr val="1F2A44"/>
                          </a:solidFill>
                          <a:latin typeface="Calibri"/>
                        </a:rPr>
                        <a:t>96.1%</a:t>
                      </a:r>
                    </a:p>
                  </a:txBody>
                  <a:tcPr marL="73152" marR="73152" anchor="ctr">
                    <a:solidFill>
                      <a:srgbClr val="EEF1F6"/>
                    </a:solidFill>
                  </a:tcPr>
                </a:tc>
                <a:tc>
                  <a:txBody>
                    <a:bodyPr/>
                    <a:lstStyle/>
                    <a:p>
                      <a:pPr algn="ctr"/>
                      <a:r>
                        <a:rPr sz="1800">
                          <a:solidFill>
                            <a:srgbClr val="1F2A44"/>
                          </a:solidFill>
                          <a:latin typeface="Calibri"/>
                        </a:rPr>
                        <a:t>-0.00110 (worse)</a:t>
                      </a:r>
                    </a:p>
                  </a:txBody>
                  <a:tcPr marL="73152" marR="73152" anchor="ctr">
                    <a:solidFill>
                      <a:srgbClr val="EEF1F6"/>
                    </a:solidFill>
                  </a:tcPr>
                </a:tc>
              </a:tr>
              <a:tr h="502920">
                <a:tc>
                  <a:txBody>
                    <a:bodyPr/>
                    <a:lstStyle/>
                    <a:p>
                      <a:pPr algn="l"/>
                      <a:r>
                        <a:rPr sz="1800">
                          <a:solidFill>
                            <a:srgbClr val="1F2A44"/>
                          </a:solidFill>
                          <a:latin typeface="Calibri"/>
                        </a:rPr>
                        <a:t>Tuned LightGBM</a:t>
                      </a:r>
                    </a:p>
                  </a:txBody>
                  <a:tcPr marL="73152" marR="73152" anchor="ctr">
                    <a:solidFill>
                      <a:srgbClr val="FFFFFF"/>
                    </a:solidFill>
                  </a:tcPr>
                </a:tc>
                <a:tc>
                  <a:txBody>
                    <a:bodyPr/>
                    <a:lstStyle/>
                    <a:p>
                      <a:pPr algn="ctr"/>
                      <a:r>
                        <a:rPr sz="1800">
                          <a:solidFill>
                            <a:srgbClr val="1F2A44"/>
                          </a:solidFill>
                          <a:latin typeface="Calibri"/>
                        </a:rPr>
                        <a:t>LightGBM, 609 trees</a:t>
                      </a:r>
                    </a:p>
                  </a:txBody>
                  <a:tcPr marL="73152" marR="73152" anchor="ctr">
                    <a:solidFill>
                      <a:srgbClr val="FFFFFF"/>
                    </a:solidFill>
                  </a:tcPr>
                </a:tc>
                <a:tc>
                  <a:txBody>
                    <a:bodyPr/>
                    <a:lstStyle/>
                    <a:p>
                      <a:pPr algn="ctr"/>
                      <a:r>
                        <a:rPr sz="1800">
                          <a:solidFill>
                            <a:srgbClr val="1F2A44"/>
                          </a:solidFill>
                          <a:latin typeface="Calibri"/>
                        </a:rPr>
                        <a:t>76.0</a:t>
                      </a:r>
                    </a:p>
                  </a:txBody>
                  <a:tcPr marL="73152" marR="73152" anchor="ctr">
                    <a:solidFill>
                      <a:srgbClr val="FFFFFF"/>
                    </a:solidFill>
                  </a:tcPr>
                </a:tc>
                <a:tc>
                  <a:txBody>
                    <a:bodyPr/>
                    <a:lstStyle/>
                    <a:p>
                      <a:pPr algn="ctr"/>
                      <a:r>
                        <a:rPr sz="1800">
                          <a:solidFill>
                            <a:srgbClr val="1F2A44"/>
                          </a:solidFill>
                          <a:latin typeface="Calibri"/>
                        </a:rPr>
                        <a:t>0.9981</a:t>
                      </a:r>
                    </a:p>
                  </a:txBody>
                  <a:tcPr marL="73152" marR="73152" anchor="ctr">
                    <a:solidFill>
                      <a:srgbClr val="FFFFFF"/>
                    </a:solidFill>
                  </a:tcPr>
                </a:tc>
                <a:tc>
                  <a:txBody>
                    <a:bodyPr/>
                    <a:lstStyle/>
                    <a:p>
                      <a:pPr algn="ctr"/>
                      <a:r>
                        <a:rPr sz="1800">
                          <a:solidFill>
                            <a:srgbClr val="1F2A44"/>
                          </a:solidFill>
                          <a:latin typeface="Calibri"/>
                        </a:rPr>
                        <a:t>97.6%</a:t>
                      </a:r>
                    </a:p>
                  </a:txBody>
                  <a:tcPr marL="73152" marR="73152" anchor="ctr">
                    <a:solidFill>
                      <a:srgbClr val="FFFFFF"/>
                    </a:solidFill>
                  </a:tcPr>
                </a:tc>
                <a:tc>
                  <a:txBody>
                    <a:bodyPr/>
                    <a:lstStyle/>
                    <a:p>
                      <a:pPr algn="ctr"/>
                      <a:r>
                        <a:rPr sz="1800">
                          <a:solidFill>
                            <a:srgbClr val="1F2A44"/>
                          </a:solidFill>
                          <a:latin typeface="Calibri"/>
                        </a:rPr>
                        <a:t>reference</a:t>
                      </a:r>
                    </a:p>
                  </a:txBody>
                  <a:tcPr marL="73152" marR="73152" anchor="ctr">
                    <a:solidFill>
                      <a:srgbClr val="FFFFFF"/>
                    </a:solidFill>
                  </a:tcPr>
                </a:tc>
              </a:tr>
              <a:tr h="502920">
                <a:tc>
                  <a:txBody>
                    <a:bodyPr/>
                    <a:lstStyle/>
                    <a:p>
                      <a:pPr algn="l"/>
                      <a:r>
                        <a:rPr sz="1800">
                          <a:solidFill>
                            <a:srgbClr val="1F2A44"/>
                          </a:solidFill>
                          <a:latin typeface="Calibri"/>
                        </a:rPr>
                        <a:t>LightGBM default</a:t>
                      </a:r>
                    </a:p>
                  </a:txBody>
                  <a:tcPr marL="73152" marR="73152" anchor="ctr">
                    <a:solidFill>
                      <a:srgbClr val="EEF1F6"/>
                    </a:solidFill>
                  </a:tcPr>
                </a:tc>
                <a:tc>
                  <a:txBody>
                    <a:bodyPr/>
                    <a:lstStyle/>
                    <a:p>
                      <a:pPr algn="ctr"/>
                      <a:r>
                        <a:rPr sz="1800">
                          <a:solidFill>
                            <a:srgbClr val="1F2A44"/>
                          </a:solidFill>
                          <a:latin typeface="Calibri"/>
                        </a:rPr>
                        <a:t>lightgbm</a:t>
                      </a:r>
                    </a:p>
                  </a:txBody>
                  <a:tcPr marL="73152" marR="73152" anchor="ctr">
                    <a:solidFill>
                      <a:srgbClr val="EEF1F6"/>
                    </a:solidFill>
                  </a:tcPr>
                </a:tc>
                <a:tc>
                  <a:txBody>
                    <a:bodyPr/>
                    <a:lstStyle/>
                    <a:p>
                      <a:pPr algn="ctr"/>
                      <a:r>
                        <a:rPr sz="1800">
                          <a:solidFill>
                            <a:srgbClr val="1F2A44"/>
                          </a:solidFill>
                          <a:latin typeface="Calibri"/>
                        </a:rPr>
                        <a:t>0.4</a:t>
                      </a:r>
                    </a:p>
                  </a:txBody>
                  <a:tcPr marL="73152" marR="73152" anchor="ctr">
                    <a:solidFill>
                      <a:srgbClr val="EEF1F6"/>
                    </a:solidFill>
                  </a:tcPr>
                </a:tc>
                <a:tc>
                  <a:txBody>
                    <a:bodyPr/>
                    <a:lstStyle/>
                    <a:p>
                      <a:pPr algn="ctr"/>
                      <a:r>
                        <a:rPr sz="1800">
                          <a:solidFill>
                            <a:srgbClr val="1F2A44"/>
                          </a:solidFill>
                          <a:latin typeface="Calibri"/>
                        </a:rPr>
                        <a:t>0.9967</a:t>
                      </a:r>
                    </a:p>
                  </a:txBody>
                  <a:tcPr marL="73152" marR="73152" anchor="ctr">
                    <a:solidFill>
                      <a:srgbClr val="EEF1F6"/>
                    </a:solidFill>
                  </a:tcPr>
                </a:tc>
                <a:tc>
                  <a:txBody>
                    <a:bodyPr/>
                    <a:lstStyle/>
                    <a:p>
                      <a:pPr algn="ctr"/>
                      <a:r>
                        <a:rPr sz="1800">
                          <a:solidFill>
                            <a:srgbClr val="1F2A44"/>
                          </a:solidFill>
                          <a:latin typeface="Calibri"/>
                        </a:rPr>
                        <a:t>95.1%</a:t>
                      </a:r>
                    </a:p>
                  </a:txBody>
                  <a:tcPr marL="73152" marR="73152" anchor="ctr">
                    <a:solidFill>
                      <a:srgbClr val="EEF1F6"/>
                    </a:solidFill>
                  </a:tcPr>
                </a:tc>
                <a:tc>
                  <a:txBody>
                    <a:bodyPr/>
                    <a:lstStyle/>
                    <a:p>
                      <a:pPr algn="ctr"/>
                      <a:r>
                        <a:rPr sz="1800">
                          <a:solidFill>
                            <a:srgbClr val="1F2A44"/>
                          </a:solidFill>
                          <a:latin typeface="Calibri"/>
                        </a:rPr>
                        <a:t>-</a:t>
                      </a:r>
                    </a:p>
                  </a:txBody>
                  <a:tcPr marL="73152" marR="73152" anchor="ctr">
                    <a:solidFill>
                      <a:srgbClr val="EEF1F6"/>
                    </a:solidFill>
                  </a:tcPr>
                </a:tc>
              </a:tr>
            </a:tbl>
          </a:graphicData>
        </a:graphic>
      </p:graphicFrame>
      <p:sp>
        <p:nvSpPr>
          <p:cNvPr id="6" name="TextBox 5"/>
          <p:cNvSpPr txBox="1"/>
          <p:nvPr/>
        </p:nvSpPr>
        <p:spPr>
          <a:xfrm>
            <a:off x="457200" y="4572000"/>
            <a:ext cx="11247120" cy="1737360"/>
          </a:xfrm>
          <a:prstGeom prst="rect">
            <a:avLst/>
          </a:prstGeom>
          <a:noFill/>
        </p:spPr>
        <p:txBody>
          <a:bodyPr wrap="square" anchor="t">
            <a:spAutoFit/>
          </a:bodyPr>
          <a:lstStyle/>
          <a:p>
            <a:pPr algn="l">
              <a:spcAft>
                <a:spcPts val="800"/>
              </a:spcAft>
            </a:pPr>
            <a:r>
              <a:rPr sz="2000" b="1">
                <a:solidFill>
                  <a:srgbClr val="1F2A44"/>
                </a:solidFill>
                <a:latin typeface="Calibri"/>
              </a:rPr>
              <a:t>Accuracy: </a:t>
            </a:r>
            <a:r>
              <a:rPr sz="2000" b="0">
                <a:solidFill>
                  <a:srgbClr val="1F2A44"/>
                </a:solidFill>
                <a:latin typeface="Calibri"/>
              </a:rPr>
              <a:t>AutoGluon tied with tuned LightGBM; FLAML, H2O AutoML slightly worse (paired bootstrap CI excludes 0).</a:t>
            </a:r>
          </a:p>
          <a:p>
            <a:pPr algn="l">
              <a:spcAft>
                <a:spcPts val="800"/>
              </a:spcAft>
            </a:pPr>
            <a:r>
              <a:rPr sz="2000" b="1">
                <a:solidFill>
                  <a:srgbClr val="1F2A44"/>
                </a:solidFill>
                <a:latin typeface="Calibri"/>
              </a:rPr>
              <a:t>Cost: </a:t>
            </a:r>
            <a:r>
              <a:rPr sz="2000" b="0">
                <a:solidFill>
                  <a:srgbClr val="1F2A44"/>
                </a:solidFill>
                <a:latin typeface="Calibri"/>
              </a:rPr>
              <a:t>AutoGluon 20.2 min vs 76.0 min for the selected manual search and refit; all three beat untuned LightGBM.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31520"/>
          </a:xfrm>
          <a:prstGeom prst="rect">
            <a:avLst/>
          </a:prstGeom>
          <a:noFill/>
        </p:spPr>
        <p:txBody>
          <a:bodyPr wrap="square" anchor="ctr">
            <a:spAutoFit/>
          </a:bodyPr>
          <a:lstStyle/>
          <a:p>
            <a:pPr algn="l">
              <a:spcAft>
                <a:spcPts val="800"/>
              </a:spcAft>
            </a:pPr>
            <a:r>
              <a:rPr sz="3000" b="1">
                <a:solidFill>
                  <a:srgbClr val="FFFFFF"/>
                </a:solidFill>
                <a:latin typeface="Calibri"/>
              </a:rPr>
              <a:t>Research question: how much does a random split overstate?</a:t>
            </a:r>
          </a:p>
        </p:txBody>
      </p:sp>
      <p:sp>
        <p:nvSpPr>
          <p:cNvPr id="4" name="TextBox 3"/>
          <p:cNvSpPr txBox="1"/>
          <p:nvPr/>
        </p:nvSpPr>
        <p:spPr>
          <a:xfrm>
            <a:off x="457200" y="6446520"/>
            <a:ext cx="11277295" cy="320040"/>
          </a:xfrm>
          <a:prstGeom prst="rect">
            <a:avLst/>
          </a:prstGeom>
          <a:noFill/>
        </p:spPr>
        <p:txBody>
          <a:bodyPr wrap="square" anchor="t">
            <a:spAutoFit/>
          </a:bodyPr>
          <a:lstStyle/>
          <a:p>
            <a:pPr algn="l">
              <a:spcAft>
                <a:spcPts val="800"/>
              </a:spcAft>
            </a:pPr>
            <a:r>
              <a:rPr sz="1200" b="0">
                <a:solidFill>
                  <a:srgbClr val="5F6673"/>
                </a:solidFill>
                <a:latin typeface="Calibri"/>
              </a:rPr>
              <a:t>Source: reports/tables/random_vs_future.csv, precision_both_sets.csv, challenge.csv; threshold = 1% FPR on TRAIN out-of-fold scores</a:t>
            </a:r>
          </a:p>
        </p:txBody>
      </p:sp>
      <p:graphicFrame>
        <p:nvGraphicFramePr>
          <p:cNvPr id="5" name="Table 4"/>
          <p:cNvGraphicFramePr>
            <a:graphicFrameLocks noGrp="1"/>
          </p:cNvGraphicFramePr>
          <p:nvPr/>
        </p:nvGraphicFramePr>
        <p:xfrm>
          <a:off x="457200" y="1188720"/>
          <a:ext cx="11247120" cy="2011680"/>
        </p:xfrm>
        <a:graphic>
          <a:graphicData uri="http://schemas.openxmlformats.org/drawingml/2006/table">
            <a:tbl>
              <a:tblPr firstRow="1" bandRow="1">
                <a:tableStyleId>{5C22544A-7EE6-4342-B048-85BDC9FD1C3A}</a:tableStyleId>
              </a:tblPr>
              <a:tblGrid>
                <a:gridCol w="3108960"/>
                <a:gridCol w="1280160"/>
                <a:gridCol w="1280160"/>
                <a:gridCol w="1737360"/>
                <a:gridCol w="1828800"/>
                <a:gridCol w="2011680"/>
              </a:tblGrid>
              <a:tr h="502920">
                <a:tc>
                  <a:txBody>
                    <a:bodyPr/>
                    <a:lstStyle/>
                    <a:p>
                      <a:pPr algn="l"/>
                      <a:r>
                        <a:rPr sz="1800" b="1">
                          <a:solidFill>
                            <a:srgbClr val="FFFFFF"/>
                          </a:solidFill>
                          <a:latin typeface="Calibri"/>
                        </a:rPr>
                        <a:t>tuned LightGBM on</a:t>
                      </a:r>
                    </a:p>
                  </a:txBody>
                  <a:tcPr marL="73152" marR="73152" anchor="ctr">
                    <a:solidFill>
                      <a:srgbClr val="1F2A44"/>
                    </a:solidFill>
                  </a:tcPr>
                </a:tc>
                <a:tc>
                  <a:txBody>
                    <a:bodyPr/>
                    <a:lstStyle/>
                    <a:p>
                      <a:pPr algn="ctr"/>
                      <a:r>
                        <a:rPr sz="1800" b="1">
                          <a:solidFill>
                            <a:srgbClr val="FFFFFF"/>
                          </a:solidFill>
                          <a:latin typeface="Calibri"/>
                        </a:rPr>
                        <a:t>AUC</a:t>
                      </a:r>
                    </a:p>
                  </a:txBody>
                  <a:tcPr marL="73152" marR="73152" anchor="ctr">
                    <a:solidFill>
                      <a:srgbClr val="1F2A44"/>
                    </a:solidFill>
                  </a:tcPr>
                </a:tc>
                <a:tc>
                  <a:txBody>
                    <a:bodyPr/>
                    <a:lstStyle/>
                    <a:p>
                      <a:pPr algn="ctr"/>
                      <a:r>
                        <a:rPr sz="1800" b="1">
                          <a:solidFill>
                            <a:srgbClr val="FFFFFF"/>
                          </a:solidFill>
                          <a:latin typeface="Calibri"/>
                        </a:rPr>
                        <a:t>FPR</a:t>
                      </a:r>
                    </a:p>
                  </a:txBody>
                  <a:tcPr marL="73152" marR="73152" anchor="ctr">
                    <a:solidFill>
                      <a:srgbClr val="1F2A44"/>
                    </a:solidFill>
                  </a:tcPr>
                </a:tc>
                <a:tc>
                  <a:txBody>
                    <a:bodyPr/>
                    <a:lstStyle/>
                    <a:p>
                      <a:pPr algn="ctr"/>
                      <a:r>
                        <a:rPr sz="1800" b="1">
                          <a:solidFill>
                            <a:srgbClr val="FFFFFF"/>
                          </a:solidFill>
                          <a:latin typeface="Calibri"/>
                        </a:rPr>
                        <a:t>malware caught</a:t>
                      </a:r>
                    </a:p>
                  </a:txBody>
                  <a:tcPr marL="73152" marR="73152" anchor="ctr">
                    <a:solidFill>
                      <a:srgbClr val="1F2A44"/>
                    </a:solidFill>
                  </a:tcPr>
                </a:tc>
                <a:tc>
                  <a:txBody>
                    <a:bodyPr/>
                    <a:lstStyle/>
                    <a:p>
                      <a:pPr algn="ctr"/>
                      <a:r>
                        <a:rPr sz="1800" b="1">
                          <a:solidFill>
                            <a:srgbClr val="FFFFFF"/>
                          </a:solidFill>
                          <a:latin typeface="Calibri"/>
                        </a:rPr>
                        <a:t>precision 50/50</a:t>
                      </a:r>
                    </a:p>
                  </a:txBody>
                  <a:tcPr marL="73152" marR="73152" anchor="ctr">
                    <a:solidFill>
                      <a:srgbClr val="1F2A44"/>
                    </a:solidFill>
                  </a:tcPr>
                </a:tc>
                <a:tc>
                  <a:txBody>
                    <a:bodyPr/>
                    <a:lstStyle/>
                    <a:p>
                      <a:pPr algn="ctr"/>
                      <a:r>
                        <a:rPr sz="1800" b="1">
                          <a:solidFill>
                            <a:srgbClr val="FFFFFF"/>
                          </a:solidFill>
                          <a:latin typeface="Calibri"/>
                        </a:rPr>
                        <a:t>precision @1% malware</a:t>
                      </a:r>
                    </a:p>
                  </a:txBody>
                  <a:tcPr marL="73152" marR="73152" anchor="ctr">
                    <a:solidFill>
                      <a:srgbClr val="1F2A44"/>
                    </a:solidFill>
                  </a:tcPr>
                </a:tc>
              </a:tr>
              <a:tr h="502920">
                <a:tc>
                  <a:txBody>
                    <a:bodyPr/>
                    <a:lstStyle/>
                    <a:p>
                      <a:pPr algn="l"/>
                      <a:r>
                        <a:rPr sz="1800">
                          <a:solidFill>
                            <a:srgbClr val="1F2A44"/>
                          </a:solidFill>
                          <a:latin typeface="Calibri"/>
                        </a:rPr>
                        <a:t>test_random (weeks 0-51)</a:t>
                      </a:r>
                    </a:p>
                  </a:txBody>
                  <a:tcPr marL="73152" marR="73152" anchor="ctr">
                    <a:solidFill>
                      <a:srgbClr val="EEF1F6"/>
                    </a:solidFill>
                  </a:tcPr>
                </a:tc>
                <a:tc>
                  <a:txBody>
                    <a:bodyPr/>
                    <a:lstStyle/>
                    <a:p>
                      <a:pPr algn="ctr"/>
                      <a:r>
                        <a:rPr sz="1800">
                          <a:solidFill>
                            <a:srgbClr val="1F2A44"/>
                          </a:solidFill>
                          <a:latin typeface="Calibri"/>
                        </a:rPr>
                        <a:t>0.9991</a:t>
                      </a:r>
                    </a:p>
                  </a:txBody>
                  <a:tcPr marL="73152" marR="73152" anchor="ctr">
                    <a:solidFill>
                      <a:srgbClr val="EEF1F6"/>
                    </a:solidFill>
                  </a:tcPr>
                </a:tc>
                <a:tc>
                  <a:txBody>
                    <a:bodyPr/>
                    <a:lstStyle/>
                    <a:p>
                      <a:pPr algn="ctr"/>
                      <a:r>
                        <a:rPr sz="1800">
                          <a:solidFill>
                            <a:srgbClr val="1F2A44"/>
                          </a:solidFill>
                          <a:latin typeface="Calibri"/>
                        </a:rPr>
                        <a:t>0.95%</a:t>
                      </a:r>
                    </a:p>
                  </a:txBody>
                  <a:tcPr marL="73152" marR="73152" anchor="ctr">
                    <a:solidFill>
                      <a:srgbClr val="EEF1F6"/>
                    </a:solidFill>
                  </a:tcPr>
                </a:tc>
                <a:tc>
                  <a:txBody>
                    <a:bodyPr/>
                    <a:lstStyle/>
                    <a:p>
                      <a:pPr algn="ctr"/>
                      <a:r>
                        <a:rPr sz="1800">
                          <a:solidFill>
                            <a:srgbClr val="1F2A44"/>
                          </a:solidFill>
                          <a:latin typeface="Calibri"/>
                        </a:rPr>
                        <a:t>98.6%</a:t>
                      </a:r>
                    </a:p>
                  </a:txBody>
                  <a:tcPr marL="73152" marR="73152" anchor="ctr">
                    <a:solidFill>
                      <a:srgbClr val="EEF1F6"/>
                    </a:solidFill>
                  </a:tcPr>
                </a:tc>
                <a:tc>
                  <a:txBody>
                    <a:bodyPr/>
                    <a:lstStyle/>
                    <a:p>
                      <a:pPr algn="ctr"/>
                      <a:r>
                        <a:rPr sz="1800">
                          <a:solidFill>
                            <a:srgbClr val="1F2A44"/>
                          </a:solidFill>
                          <a:latin typeface="Calibri"/>
                        </a:rPr>
                        <a:t>99.0%</a:t>
                      </a:r>
                    </a:p>
                  </a:txBody>
                  <a:tcPr marL="73152" marR="73152" anchor="ctr">
                    <a:solidFill>
                      <a:srgbClr val="EEF1F6"/>
                    </a:solidFill>
                  </a:tcPr>
                </a:tc>
                <a:tc>
                  <a:txBody>
                    <a:bodyPr/>
                    <a:lstStyle/>
                    <a:p>
                      <a:pPr algn="ctr"/>
                      <a:r>
                        <a:rPr sz="1800">
                          <a:solidFill>
                            <a:srgbClr val="1F2A44"/>
                          </a:solidFill>
                          <a:latin typeface="Calibri"/>
                        </a:rPr>
                        <a:t>51.2%</a:t>
                      </a:r>
                    </a:p>
                  </a:txBody>
                  <a:tcPr marL="73152" marR="73152" anchor="ctr">
                    <a:solidFill>
                      <a:srgbClr val="EEF1F6"/>
                    </a:solidFill>
                  </a:tcPr>
                </a:tc>
              </a:tr>
              <a:tr h="502920">
                <a:tc>
                  <a:txBody>
                    <a:bodyPr/>
                    <a:lstStyle/>
                    <a:p>
                      <a:pPr algn="l"/>
                      <a:r>
                        <a:rPr sz="1800">
                          <a:solidFill>
                            <a:srgbClr val="1F2A44"/>
                          </a:solidFill>
                          <a:latin typeface="Calibri"/>
                        </a:rPr>
                        <a:t>test_future (weeks 52-63)</a:t>
                      </a:r>
                    </a:p>
                  </a:txBody>
                  <a:tcPr marL="73152" marR="73152" anchor="ctr">
                    <a:solidFill>
                      <a:srgbClr val="FFFFFF"/>
                    </a:solidFill>
                  </a:tcPr>
                </a:tc>
                <a:tc>
                  <a:txBody>
                    <a:bodyPr/>
                    <a:lstStyle/>
                    <a:p>
                      <a:pPr algn="ctr"/>
                      <a:r>
                        <a:rPr sz="1800">
                          <a:solidFill>
                            <a:srgbClr val="1F2A44"/>
                          </a:solidFill>
                          <a:latin typeface="Calibri"/>
                        </a:rPr>
                        <a:t>0.9981</a:t>
                      </a:r>
                    </a:p>
                  </a:txBody>
                  <a:tcPr marL="73152" marR="73152" anchor="ctr">
                    <a:solidFill>
                      <a:srgbClr val="FFFFFF"/>
                    </a:solidFill>
                  </a:tcPr>
                </a:tc>
                <a:tc>
                  <a:txBody>
                    <a:bodyPr/>
                    <a:lstStyle/>
                    <a:p>
                      <a:pPr algn="ctr"/>
                      <a:r>
                        <a:rPr sz="1800">
                          <a:solidFill>
                            <a:srgbClr val="1F2A44"/>
                          </a:solidFill>
                          <a:latin typeface="Calibri"/>
                        </a:rPr>
                        <a:t>1.23%</a:t>
                      </a:r>
                    </a:p>
                  </a:txBody>
                  <a:tcPr marL="73152" marR="73152" anchor="ctr">
                    <a:solidFill>
                      <a:srgbClr val="FFFFFF"/>
                    </a:solidFill>
                  </a:tcPr>
                </a:tc>
                <a:tc>
                  <a:txBody>
                    <a:bodyPr/>
                    <a:lstStyle/>
                    <a:p>
                      <a:pPr algn="ctr"/>
                      <a:r>
                        <a:rPr sz="1800">
                          <a:solidFill>
                            <a:srgbClr val="1F2A44"/>
                          </a:solidFill>
                          <a:latin typeface="Calibri"/>
                        </a:rPr>
                        <a:t>97.9%</a:t>
                      </a:r>
                    </a:p>
                  </a:txBody>
                  <a:tcPr marL="73152" marR="73152" anchor="ctr">
                    <a:solidFill>
                      <a:srgbClr val="FFFFFF"/>
                    </a:solidFill>
                  </a:tcPr>
                </a:tc>
                <a:tc>
                  <a:txBody>
                    <a:bodyPr/>
                    <a:lstStyle/>
                    <a:p>
                      <a:pPr algn="ctr"/>
                      <a:r>
                        <a:rPr sz="1800">
                          <a:solidFill>
                            <a:srgbClr val="1F2A44"/>
                          </a:solidFill>
                          <a:latin typeface="Calibri"/>
                        </a:rPr>
                        <a:t>98.8%</a:t>
                      </a:r>
                    </a:p>
                  </a:txBody>
                  <a:tcPr marL="73152" marR="73152" anchor="ctr">
                    <a:solidFill>
                      <a:srgbClr val="FFFFFF"/>
                    </a:solidFill>
                  </a:tcPr>
                </a:tc>
                <a:tc>
                  <a:txBody>
                    <a:bodyPr/>
                    <a:lstStyle/>
                    <a:p>
                      <a:pPr algn="ctr"/>
                      <a:r>
                        <a:rPr sz="1800">
                          <a:solidFill>
                            <a:srgbClr val="1F2A44"/>
                          </a:solidFill>
                          <a:latin typeface="Calibri"/>
                        </a:rPr>
                        <a:t>44.7%</a:t>
                      </a:r>
                    </a:p>
                  </a:txBody>
                  <a:tcPr marL="73152" marR="73152" anchor="ctr">
                    <a:solidFill>
                      <a:srgbClr val="FFFFFF"/>
                    </a:solidFill>
                  </a:tcPr>
                </a:tc>
              </a:tr>
              <a:tr h="502920">
                <a:tc>
                  <a:txBody>
                    <a:bodyPr/>
                    <a:lstStyle/>
                    <a:p>
                      <a:pPr algn="l"/>
                      <a:r>
                        <a:rPr sz="1800">
                          <a:solidFill>
                            <a:srgbClr val="1F2A44"/>
                          </a:solidFill>
                          <a:latin typeface="Calibri"/>
                        </a:rPr>
                        <a:t>challenge set (814, all malware)</a:t>
                      </a:r>
                    </a:p>
                  </a:txBody>
                  <a:tcPr marL="73152" marR="73152" anchor="ctr">
                    <a:solidFill>
                      <a:srgbClr val="EEF1F6"/>
                    </a:solidFill>
                  </a:tcPr>
                </a:tc>
                <a:tc>
                  <a:txBody>
                    <a:bodyPr/>
                    <a:lstStyle/>
                    <a:p>
                      <a:pPr algn="ctr"/>
                      <a:r>
                        <a:rPr sz="1800">
                          <a:solidFill>
                            <a:srgbClr val="1F2A44"/>
                          </a:solidFill>
                          <a:latin typeface="Calibri"/>
                        </a:rPr>
                        <a:t>-</a:t>
                      </a:r>
                    </a:p>
                  </a:txBody>
                  <a:tcPr marL="73152" marR="73152" anchor="ctr">
                    <a:solidFill>
                      <a:srgbClr val="EEF1F6"/>
                    </a:solidFill>
                  </a:tcPr>
                </a:tc>
                <a:tc>
                  <a:txBody>
                    <a:bodyPr/>
                    <a:lstStyle/>
                    <a:p>
                      <a:pPr algn="ctr"/>
                      <a:r>
                        <a:rPr sz="1800">
                          <a:solidFill>
                            <a:srgbClr val="1F2A44"/>
                          </a:solidFill>
                          <a:latin typeface="Calibri"/>
                        </a:rPr>
                        <a:t>-</a:t>
                      </a:r>
                    </a:p>
                  </a:txBody>
                  <a:tcPr marL="73152" marR="73152" anchor="ctr">
                    <a:solidFill>
                      <a:srgbClr val="EEF1F6"/>
                    </a:solidFill>
                  </a:tcPr>
                </a:tc>
                <a:tc>
                  <a:txBody>
                    <a:bodyPr/>
                    <a:lstStyle/>
                    <a:p>
                      <a:pPr algn="ctr"/>
                      <a:r>
                        <a:rPr sz="1800">
                          <a:solidFill>
                            <a:srgbClr val="1F2A44"/>
                          </a:solidFill>
                          <a:latin typeface="Calibri"/>
                        </a:rPr>
                        <a:t>53.7%</a:t>
                      </a:r>
                    </a:p>
                  </a:txBody>
                  <a:tcPr marL="73152" marR="73152" anchor="ctr">
                    <a:solidFill>
                      <a:srgbClr val="EEF1F6"/>
                    </a:solidFill>
                  </a:tcPr>
                </a:tc>
                <a:tc>
                  <a:txBody>
                    <a:bodyPr/>
                    <a:lstStyle/>
                    <a:p>
                      <a:pPr algn="ctr"/>
                      <a:r>
                        <a:rPr sz="1800">
                          <a:solidFill>
                            <a:srgbClr val="1F2A44"/>
                          </a:solidFill>
                          <a:latin typeface="Calibri"/>
                        </a:rPr>
                        <a:t>-</a:t>
                      </a:r>
                    </a:p>
                  </a:txBody>
                  <a:tcPr marL="73152" marR="73152" anchor="ctr">
                    <a:solidFill>
                      <a:srgbClr val="EEF1F6"/>
                    </a:solidFill>
                  </a:tcPr>
                </a:tc>
                <a:tc>
                  <a:txBody>
                    <a:bodyPr/>
                    <a:lstStyle/>
                    <a:p>
                      <a:pPr algn="ctr"/>
                      <a:r>
                        <a:rPr sz="1800">
                          <a:solidFill>
                            <a:srgbClr val="1F2A44"/>
                          </a:solidFill>
                          <a:latin typeface="Calibri"/>
                        </a:rPr>
                        <a:t>-</a:t>
                      </a:r>
                    </a:p>
                  </a:txBody>
                  <a:tcPr marL="73152" marR="73152" anchor="ctr">
                    <a:solidFill>
                      <a:srgbClr val="EEF1F6"/>
                    </a:solidFill>
                  </a:tcPr>
                </a:tc>
              </a:tr>
            </a:tbl>
          </a:graphicData>
        </a:graphic>
      </p:graphicFrame>
      <p:sp>
        <p:nvSpPr>
          <p:cNvPr id="6" name="TextBox 5"/>
          <p:cNvSpPr txBox="1"/>
          <p:nvPr/>
        </p:nvSpPr>
        <p:spPr>
          <a:xfrm>
            <a:off x="457200" y="3429000"/>
            <a:ext cx="11247120" cy="2834640"/>
          </a:xfrm>
          <a:prstGeom prst="rect">
            <a:avLst/>
          </a:prstGeom>
          <a:noFill/>
        </p:spPr>
        <p:txBody>
          <a:bodyPr wrap="square" anchor="t">
            <a:spAutoFit/>
          </a:bodyPr>
          <a:lstStyle/>
          <a:p>
            <a:pPr algn="l">
              <a:spcAft>
                <a:spcPts val="800"/>
              </a:spcAft>
            </a:pPr>
            <a:r>
              <a:rPr sz="2000" b="1">
                <a:solidFill>
                  <a:srgbClr val="1F2A44"/>
                </a:solidFill>
                <a:latin typeface="Calibri"/>
              </a:rPr>
              <a:t>AUC hides it: </a:t>
            </a:r>
            <a:r>
              <a:rPr sz="2000" b="0">
                <a:solidFill>
                  <a:srgbClr val="1F2A44"/>
                </a:solidFill>
                <a:latin typeface="Calibri"/>
              </a:rPr>
              <a:t>gap 0.0010 [0.0007, 0.0014]; all tree models 0.0010 to 0.0014; LogReg 0.0632.</a:t>
            </a:r>
          </a:p>
          <a:p>
            <a:pPr algn="l">
              <a:spcAft>
                <a:spcPts val="800"/>
              </a:spcAft>
            </a:pPr>
            <a:r>
              <a:rPr sz="2000" b="1">
                <a:solidFill>
                  <a:srgbClr val="1F2A44"/>
                </a:solidFill>
                <a:latin typeface="Calibri"/>
              </a:rPr>
              <a:t>The base rate matters most: </a:t>
            </a:r>
            <a:r>
              <a:rPr sz="2000" b="0">
                <a:solidFill>
                  <a:srgbClr val="1F2A44"/>
                </a:solidFill>
                <a:latin typeface="Calibri"/>
              </a:rPr>
              <a:t>precision 99.0% at 50/50 vs 51.2% at 1% malware; future weeks cut it to 44.7% (121 false alarms per 10,000 files).</a:t>
            </a:r>
          </a:p>
          <a:p>
            <a:pPr algn="l">
              <a:spcAft>
                <a:spcPts val="800"/>
              </a:spcAft>
            </a:pPr>
            <a:r>
              <a:rPr sz="2000" b="1">
                <a:solidFill>
                  <a:srgbClr val="1F2A44"/>
                </a:solidFill>
                <a:latin typeface="Calibri"/>
              </a:rPr>
              <a:t>The hard tail is invisible to both test sets: </a:t>
            </a:r>
            <a:r>
              <a:rPr sz="2000" b="0">
                <a:solidFill>
                  <a:srgbClr val="1F2A44"/>
                </a:solidFill>
                <a:latin typeface="Calibri"/>
              </a:rPr>
              <a:t>only 53.7% of challenge-set malware is caught at this threshold (79.9% at the deployed, recall-oriented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31520"/>
          </a:xfrm>
          <a:prstGeom prst="rect">
            <a:avLst/>
          </a:prstGeom>
          <a:noFill/>
        </p:spPr>
        <p:txBody>
          <a:bodyPr wrap="square" anchor="ctr">
            <a:spAutoFit/>
          </a:bodyPr>
          <a:lstStyle/>
          <a:p>
            <a:pPr algn="l">
              <a:spcAft>
                <a:spcPts val="800"/>
              </a:spcAft>
            </a:pPr>
            <a:r>
              <a:rPr sz="3000" b="1">
                <a:solidFill>
                  <a:srgbClr val="FFFFFF"/>
                </a:solidFill>
                <a:latin typeface="Calibri"/>
              </a:rPr>
              <a:t>Leakage: did AutoML fall for it? Yes, every tool</a:t>
            </a:r>
          </a:p>
        </p:txBody>
      </p:sp>
      <p:sp>
        <p:nvSpPr>
          <p:cNvPr id="4" name="TextBox 3"/>
          <p:cNvSpPr txBox="1"/>
          <p:nvPr/>
        </p:nvSpPr>
        <p:spPr>
          <a:xfrm>
            <a:off x="457200" y="6446520"/>
            <a:ext cx="11277295" cy="320040"/>
          </a:xfrm>
          <a:prstGeom prst="rect">
            <a:avLst/>
          </a:prstGeom>
          <a:noFill/>
        </p:spPr>
        <p:txBody>
          <a:bodyPr wrap="square" anchor="t">
            <a:spAutoFit/>
          </a:bodyPr>
          <a:lstStyle/>
          <a:p>
            <a:pPr algn="l">
              <a:spcAft>
                <a:spcPts val="800"/>
              </a:spcAft>
            </a:pPr>
            <a:r>
              <a:rPr sz="1200" b="0">
                <a:solidFill>
                  <a:srgbClr val="5F6673"/>
                </a:solidFill>
                <a:latin typeface="Calibri"/>
              </a:rPr>
              <a:t>Source: reports/tables/leakage.csv, automl_self_estimate.csv; Step 4 ran on a 4-core / 15.7 GiB RAM Linux VM, 600 s per AutoML run</a:t>
            </a:r>
          </a:p>
        </p:txBody>
      </p:sp>
      <p:graphicFrame>
        <p:nvGraphicFramePr>
          <p:cNvPr id="5" name="Table 4"/>
          <p:cNvGraphicFramePr>
            <a:graphicFrameLocks noGrp="1"/>
          </p:cNvGraphicFramePr>
          <p:nvPr/>
        </p:nvGraphicFramePr>
        <p:xfrm>
          <a:off x="457200" y="1188720"/>
          <a:ext cx="11247120" cy="2514600"/>
        </p:xfrm>
        <a:graphic>
          <a:graphicData uri="http://schemas.openxmlformats.org/drawingml/2006/table">
            <a:tbl>
              <a:tblPr firstRow="1" bandRow="1">
                <a:tableStyleId>{5C22544A-7EE6-4342-B048-85BDC9FD1C3A}</a:tableStyleId>
              </a:tblPr>
              <a:tblGrid>
                <a:gridCol w="2468880"/>
                <a:gridCol w="3108960"/>
                <a:gridCol w="2286000"/>
                <a:gridCol w="1371600"/>
                <a:gridCol w="2011680"/>
              </a:tblGrid>
              <a:tr h="502920">
                <a:tc>
                  <a:txBody>
                    <a:bodyPr/>
                    <a:lstStyle/>
                    <a:p>
                      <a:pPr algn="l"/>
                      <a:r>
                        <a:rPr sz="1800" b="1">
                          <a:solidFill>
                            <a:srgbClr val="FFFFFF"/>
                          </a:solidFill>
                          <a:latin typeface="Calibri"/>
                        </a:rPr>
                        <a:t>+ detection_ratio</a:t>
                      </a:r>
                    </a:p>
                  </a:txBody>
                  <a:tcPr marL="73152" marR="73152" anchor="ctr">
                    <a:solidFill>
                      <a:srgbClr val="1F2A44"/>
                    </a:solidFill>
                  </a:tcPr>
                </a:tc>
                <a:tc>
                  <a:txBody>
                    <a:bodyPr/>
                    <a:lstStyle/>
                    <a:p>
                      <a:pPr algn="ctr"/>
                      <a:r>
                        <a:rPr sz="1800" b="1">
                          <a:solidFill>
                            <a:srgbClr val="FFFFFF"/>
                          </a:solidFill>
                          <a:latin typeface="Calibri"/>
                        </a:rPr>
                        <a:t>AUC future clean -&gt; leak</a:t>
                      </a:r>
                    </a:p>
                  </a:txBody>
                  <a:tcPr marL="73152" marR="73152" anchor="ctr">
                    <a:solidFill>
                      <a:srgbClr val="1F2A44"/>
                    </a:solidFill>
                  </a:tcPr>
                </a:tc>
                <a:tc>
                  <a:txBody>
                    <a:bodyPr/>
                    <a:lstStyle/>
                    <a:p>
                      <a:pPr algn="ctr"/>
                      <a:r>
                        <a:rPr sz="1800" b="1">
                          <a:solidFill>
                            <a:srgbClr val="FFFFFF"/>
                          </a:solidFill>
                          <a:latin typeface="Calibri"/>
                        </a:rPr>
                        <a:t>leak rank own / SHAP</a:t>
                      </a:r>
                    </a:p>
                  </a:txBody>
                  <a:tcPr marL="73152" marR="73152" anchor="ctr">
                    <a:solidFill>
                      <a:srgbClr val="1F2A44"/>
                    </a:solidFill>
                  </a:tcPr>
                </a:tc>
                <a:tc>
                  <a:txBody>
                    <a:bodyPr/>
                    <a:lstStyle/>
                    <a:p>
                      <a:pPr algn="ctr"/>
                      <a:r>
                        <a:rPr sz="1800" b="1">
                          <a:solidFill>
                            <a:srgbClr val="FFFFFF"/>
                          </a:solidFill>
                          <a:latin typeface="Calibri"/>
                        </a:rPr>
                        <a:t>dropped?</a:t>
                      </a:r>
                    </a:p>
                  </a:txBody>
                  <a:tcPr marL="73152" marR="73152" anchor="ctr">
                    <a:solidFill>
                      <a:srgbClr val="1F2A44"/>
                    </a:solidFill>
                  </a:tcPr>
                </a:tc>
                <a:tc>
                  <a:txBody>
                    <a:bodyPr/>
                    <a:lstStyle/>
                    <a:p>
                      <a:pPr algn="ctr"/>
                      <a:r>
                        <a:rPr sz="1800" b="1">
                          <a:solidFill>
                            <a:srgbClr val="FFFFFF"/>
                          </a:solidFill>
                          <a:latin typeface="Calibri"/>
                        </a:rPr>
                        <a:t>own validation AUC</a:t>
                      </a:r>
                    </a:p>
                  </a:txBody>
                  <a:tcPr marL="73152" marR="73152" anchor="ctr">
                    <a:solidFill>
                      <a:srgbClr val="1F2A44"/>
                    </a:solidFill>
                  </a:tcPr>
                </a:tc>
              </a:tr>
              <a:tr h="502920">
                <a:tc>
                  <a:txBody>
                    <a:bodyPr/>
                    <a:lstStyle/>
                    <a:p>
                      <a:pPr algn="l"/>
                      <a:r>
                        <a:rPr sz="1800">
                          <a:solidFill>
                            <a:srgbClr val="1F2A44"/>
                          </a:solidFill>
                          <a:latin typeface="Calibri"/>
                        </a:rPr>
                        <a:t>Tuned LightGBM</a:t>
                      </a:r>
                    </a:p>
                  </a:txBody>
                  <a:tcPr marL="73152" marR="73152" anchor="ctr">
                    <a:solidFill>
                      <a:srgbClr val="EEF1F6"/>
                    </a:solidFill>
                  </a:tcPr>
                </a:tc>
                <a:tc>
                  <a:txBody>
                    <a:bodyPr/>
                    <a:lstStyle/>
                    <a:p>
                      <a:pPr algn="ctr"/>
                      <a:r>
                        <a:rPr sz="1800">
                          <a:solidFill>
                            <a:srgbClr val="1F2A44"/>
                          </a:solidFill>
                          <a:latin typeface="Calibri"/>
                        </a:rPr>
                        <a:t>0.9981 -&gt; 1.0000</a:t>
                      </a:r>
                    </a:p>
                  </a:txBody>
                  <a:tcPr marL="73152" marR="73152" anchor="ctr">
                    <a:solidFill>
                      <a:srgbClr val="EEF1F6"/>
                    </a:solidFill>
                  </a:tcPr>
                </a:tc>
                <a:tc>
                  <a:txBody>
                    <a:bodyPr/>
                    <a:lstStyle/>
                    <a:p>
                      <a:pPr algn="ctr"/>
                      <a:r>
                        <a:rPr sz="1800">
                          <a:solidFill>
                            <a:srgbClr val="1F2A44"/>
                          </a:solidFill>
                          <a:latin typeface="Calibri"/>
                        </a:rPr>
                        <a:t>#1 / #1</a:t>
                      </a:r>
                    </a:p>
                  </a:txBody>
                  <a:tcPr marL="73152" marR="73152" anchor="ctr">
                    <a:solidFill>
                      <a:srgbClr val="EEF1F6"/>
                    </a:solidFill>
                  </a:tcPr>
                </a:tc>
                <a:tc>
                  <a:txBody>
                    <a:bodyPr/>
                    <a:lstStyle/>
                    <a:p>
                      <a:pPr algn="ctr"/>
                      <a:r>
                        <a:rPr sz="1800">
                          <a:solidFill>
                            <a:srgbClr val="1F2A44"/>
                          </a:solidFill>
                          <a:latin typeface="Calibri"/>
                        </a:rPr>
                        <a:t>n/a</a:t>
                      </a:r>
                    </a:p>
                  </a:txBody>
                  <a:tcPr marL="73152" marR="73152" anchor="ctr">
                    <a:solidFill>
                      <a:srgbClr val="EEF1F6"/>
                    </a:solidFill>
                  </a:tcPr>
                </a:tc>
                <a:tc>
                  <a:txBody>
                    <a:bodyPr/>
                    <a:lstStyle/>
                    <a:p>
                      <a:pPr algn="ctr"/>
                      <a:r>
                        <a:rPr sz="1800">
                          <a:solidFill>
                            <a:srgbClr val="1F2A44"/>
                          </a:solidFill>
                          <a:latin typeface="Calibri"/>
                        </a:rPr>
                        <a:t>-</a:t>
                      </a:r>
                    </a:p>
                  </a:txBody>
                  <a:tcPr marL="73152" marR="73152" anchor="ctr">
                    <a:solidFill>
                      <a:srgbClr val="EEF1F6"/>
                    </a:solidFill>
                  </a:tcPr>
                </a:tc>
              </a:tr>
              <a:tr h="502920">
                <a:tc>
                  <a:txBody>
                    <a:bodyPr/>
                    <a:lstStyle/>
                    <a:p>
                      <a:pPr algn="l"/>
                      <a:r>
                        <a:rPr sz="1800">
                          <a:solidFill>
                            <a:srgbClr val="1F2A44"/>
                          </a:solidFill>
                          <a:latin typeface="Calibri"/>
                        </a:rPr>
                        <a:t>FLAML</a:t>
                      </a:r>
                    </a:p>
                  </a:txBody>
                  <a:tcPr marL="73152" marR="73152" anchor="ctr">
                    <a:solidFill>
                      <a:srgbClr val="FFFFFF"/>
                    </a:solidFill>
                  </a:tcPr>
                </a:tc>
                <a:tc>
                  <a:txBody>
                    <a:bodyPr/>
                    <a:lstStyle/>
                    <a:p>
                      <a:pPr algn="ctr"/>
                      <a:r>
                        <a:rPr sz="1800">
                          <a:solidFill>
                            <a:srgbClr val="1F2A44"/>
                          </a:solidFill>
                          <a:latin typeface="Calibri"/>
                        </a:rPr>
                        <a:t>0.9980 -&gt; 1.0000</a:t>
                      </a:r>
                    </a:p>
                  </a:txBody>
                  <a:tcPr marL="73152" marR="73152" anchor="ctr">
                    <a:solidFill>
                      <a:srgbClr val="FFFFFF"/>
                    </a:solidFill>
                  </a:tcPr>
                </a:tc>
                <a:tc>
                  <a:txBody>
                    <a:bodyPr/>
                    <a:lstStyle/>
                    <a:p>
                      <a:pPr algn="ctr"/>
                      <a:r>
                        <a:rPr sz="1800">
                          <a:solidFill>
                            <a:srgbClr val="1F2A44"/>
                          </a:solidFill>
                          <a:latin typeface="Calibri"/>
                        </a:rPr>
                        <a:t>#2 / #1</a:t>
                      </a:r>
                    </a:p>
                  </a:txBody>
                  <a:tcPr marL="73152" marR="73152" anchor="ctr">
                    <a:solidFill>
                      <a:srgbClr val="FFFFFF"/>
                    </a:solidFill>
                  </a:tcPr>
                </a:tc>
                <a:tc>
                  <a:txBody>
                    <a:bodyPr/>
                    <a:lstStyle/>
                    <a:p>
                      <a:pPr algn="ctr"/>
                      <a:r>
                        <a:rPr sz="1800">
                          <a:solidFill>
                            <a:srgbClr val="1F2A44"/>
                          </a:solidFill>
                          <a:latin typeface="Calibri"/>
                        </a:rPr>
                        <a:t>no</a:t>
                      </a:r>
                    </a:p>
                  </a:txBody>
                  <a:tcPr marL="73152" marR="73152" anchor="ctr">
                    <a:solidFill>
                      <a:srgbClr val="FFFFFF"/>
                    </a:solidFill>
                  </a:tcPr>
                </a:tc>
                <a:tc>
                  <a:txBody>
                    <a:bodyPr/>
                    <a:lstStyle/>
                    <a:p>
                      <a:pPr algn="ctr"/>
                      <a:r>
                        <a:rPr sz="1800">
                          <a:solidFill>
                            <a:srgbClr val="1F2A44"/>
                          </a:solidFill>
                          <a:latin typeface="Calibri"/>
                        </a:rPr>
                        <a:t>1.0000</a:t>
                      </a:r>
                    </a:p>
                  </a:txBody>
                  <a:tcPr marL="73152" marR="73152" anchor="ctr">
                    <a:solidFill>
                      <a:srgbClr val="FFFFFF"/>
                    </a:solidFill>
                  </a:tcPr>
                </a:tc>
              </a:tr>
              <a:tr h="502920">
                <a:tc>
                  <a:txBody>
                    <a:bodyPr/>
                    <a:lstStyle/>
                    <a:p>
                      <a:pPr algn="l"/>
                      <a:r>
                        <a:rPr sz="1800">
                          <a:solidFill>
                            <a:srgbClr val="1F2A44"/>
                          </a:solidFill>
                          <a:latin typeface="Calibri"/>
                        </a:rPr>
                        <a:t>AutoGluon</a:t>
                      </a:r>
                    </a:p>
                  </a:txBody>
                  <a:tcPr marL="73152" marR="73152" anchor="ctr">
                    <a:solidFill>
                      <a:srgbClr val="EEF1F6"/>
                    </a:solidFill>
                  </a:tcPr>
                </a:tc>
                <a:tc>
                  <a:txBody>
                    <a:bodyPr/>
                    <a:lstStyle/>
                    <a:p>
                      <a:pPr algn="ctr"/>
                      <a:r>
                        <a:rPr sz="1800">
                          <a:solidFill>
                            <a:srgbClr val="1F2A44"/>
                          </a:solidFill>
                          <a:latin typeface="Calibri"/>
                        </a:rPr>
                        <a:t>0.9980 -&gt; 0.9999</a:t>
                      </a:r>
                    </a:p>
                  </a:txBody>
                  <a:tcPr marL="73152" marR="73152" anchor="ctr">
                    <a:solidFill>
                      <a:srgbClr val="EEF1F6"/>
                    </a:solidFill>
                  </a:tcPr>
                </a:tc>
                <a:tc>
                  <a:txBody>
                    <a:bodyPr/>
                    <a:lstStyle/>
                    <a:p>
                      <a:pPr algn="ctr"/>
                      <a:r>
                        <a:rPr sz="1800">
                          <a:solidFill>
                            <a:srgbClr val="1F2A44"/>
                          </a:solidFill>
                          <a:latin typeface="Calibri"/>
                        </a:rPr>
                        <a:t>#1 / #1</a:t>
                      </a:r>
                    </a:p>
                  </a:txBody>
                  <a:tcPr marL="73152" marR="73152" anchor="ctr">
                    <a:solidFill>
                      <a:srgbClr val="EEF1F6"/>
                    </a:solidFill>
                  </a:tcPr>
                </a:tc>
                <a:tc>
                  <a:txBody>
                    <a:bodyPr/>
                    <a:lstStyle/>
                    <a:p>
                      <a:pPr algn="ctr"/>
                      <a:r>
                        <a:rPr sz="1800">
                          <a:solidFill>
                            <a:srgbClr val="1F2A44"/>
                          </a:solidFill>
                          <a:latin typeface="Calibri"/>
                        </a:rPr>
                        <a:t>no</a:t>
                      </a:r>
                    </a:p>
                  </a:txBody>
                  <a:tcPr marL="73152" marR="73152" anchor="ctr">
                    <a:solidFill>
                      <a:srgbClr val="EEF1F6"/>
                    </a:solidFill>
                  </a:tcPr>
                </a:tc>
                <a:tc>
                  <a:txBody>
                    <a:bodyPr/>
                    <a:lstStyle/>
                    <a:p>
                      <a:pPr algn="ctr"/>
                      <a:r>
                        <a:rPr sz="1800">
                          <a:solidFill>
                            <a:srgbClr val="1F2A44"/>
                          </a:solidFill>
                          <a:latin typeface="Calibri"/>
                        </a:rPr>
                        <a:t>1.0000</a:t>
                      </a:r>
                    </a:p>
                  </a:txBody>
                  <a:tcPr marL="73152" marR="73152" anchor="ctr">
                    <a:solidFill>
                      <a:srgbClr val="EEF1F6"/>
                    </a:solidFill>
                  </a:tcPr>
                </a:tc>
              </a:tr>
              <a:tr h="502920">
                <a:tc>
                  <a:txBody>
                    <a:bodyPr/>
                    <a:lstStyle/>
                    <a:p>
                      <a:pPr algn="l"/>
                      <a:r>
                        <a:rPr sz="1800">
                          <a:solidFill>
                            <a:srgbClr val="1F2A44"/>
                          </a:solidFill>
                          <a:latin typeface="Calibri"/>
                        </a:rPr>
                        <a:t>H2O AutoML</a:t>
                      </a:r>
                    </a:p>
                  </a:txBody>
                  <a:tcPr marL="73152" marR="73152" anchor="ctr">
                    <a:solidFill>
                      <a:srgbClr val="FFFFFF"/>
                    </a:solidFill>
                  </a:tcPr>
                </a:tc>
                <a:tc>
                  <a:txBody>
                    <a:bodyPr/>
                    <a:lstStyle/>
                    <a:p>
                      <a:pPr algn="ctr"/>
                      <a:r>
                        <a:rPr sz="1800">
                          <a:solidFill>
                            <a:srgbClr val="1F2A44"/>
                          </a:solidFill>
                          <a:latin typeface="Calibri"/>
                        </a:rPr>
                        <a:t>0.9922 -&gt; 1.0000</a:t>
                      </a:r>
                    </a:p>
                  </a:txBody>
                  <a:tcPr marL="73152" marR="73152" anchor="ctr">
                    <a:solidFill>
                      <a:srgbClr val="FFFFFF"/>
                    </a:solidFill>
                  </a:tcPr>
                </a:tc>
                <a:tc>
                  <a:txBody>
                    <a:bodyPr/>
                    <a:lstStyle/>
                    <a:p>
                      <a:pPr algn="ctr"/>
                      <a:r>
                        <a:rPr sz="1800">
                          <a:solidFill>
                            <a:srgbClr val="1F2A44"/>
                          </a:solidFill>
                          <a:latin typeface="Calibri"/>
                        </a:rPr>
                        <a:t>#1 / #1</a:t>
                      </a:r>
                    </a:p>
                  </a:txBody>
                  <a:tcPr marL="73152" marR="73152" anchor="ctr">
                    <a:solidFill>
                      <a:srgbClr val="FFFFFF"/>
                    </a:solidFill>
                  </a:tcPr>
                </a:tc>
                <a:tc>
                  <a:txBody>
                    <a:bodyPr/>
                    <a:lstStyle/>
                    <a:p>
                      <a:pPr algn="ctr"/>
                      <a:r>
                        <a:rPr sz="1800">
                          <a:solidFill>
                            <a:srgbClr val="1F2A44"/>
                          </a:solidFill>
                          <a:latin typeface="Calibri"/>
                        </a:rPr>
                        <a:t>no</a:t>
                      </a:r>
                    </a:p>
                  </a:txBody>
                  <a:tcPr marL="73152" marR="73152" anchor="ctr">
                    <a:solidFill>
                      <a:srgbClr val="FFFFFF"/>
                    </a:solidFill>
                  </a:tcPr>
                </a:tc>
                <a:tc>
                  <a:txBody>
                    <a:bodyPr/>
                    <a:lstStyle/>
                    <a:p>
                      <a:pPr algn="ctr"/>
                      <a:r>
                        <a:rPr sz="1800">
                          <a:solidFill>
                            <a:srgbClr val="1F2A44"/>
                          </a:solidFill>
                          <a:latin typeface="Calibri"/>
                        </a:rPr>
                        <a:t>1.0000</a:t>
                      </a:r>
                    </a:p>
                  </a:txBody>
                  <a:tcPr marL="73152" marR="73152" anchor="ctr">
                    <a:solidFill>
                      <a:srgbClr val="FFFFFF"/>
                    </a:solidFill>
                  </a:tcPr>
                </a:tc>
              </a:tr>
            </a:tbl>
          </a:graphicData>
        </a:graphic>
      </p:graphicFrame>
      <p:sp>
        <p:nvSpPr>
          <p:cNvPr id="6" name="TextBox 5"/>
          <p:cNvSpPr txBox="1"/>
          <p:nvPr/>
        </p:nvSpPr>
        <p:spPr>
          <a:xfrm>
            <a:off x="457200" y="3977639"/>
            <a:ext cx="11247120" cy="2286000"/>
          </a:xfrm>
          <a:prstGeom prst="rect">
            <a:avLst/>
          </a:prstGeom>
          <a:noFill/>
        </p:spPr>
        <p:txBody>
          <a:bodyPr wrap="square" anchor="t">
            <a:spAutoFit/>
          </a:bodyPr>
          <a:lstStyle/>
          <a:p>
            <a:pPr algn="l">
              <a:spcAft>
                <a:spcPts val="800"/>
              </a:spcAft>
            </a:pPr>
            <a:r>
              <a:rPr sz="2000" b="1">
                <a:solidFill>
                  <a:srgbClr val="1F2A44"/>
                </a:solidFill>
                <a:latin typeface="Calibri"/>
              </a:rPr>
              <a:t>4 of 4 models relied on the label leak; </a:t>
            </a:r>
            <a:r>
              <a:rPr sz="2000" b="0">
                <a:solidFill>
                  <a:srgbClr val="1F2A44"/>
                </a:solidFill>
                <a:latin typeface="Calibri"/>
              </a:rPr>
              <a:t>no tool dropped it or warned about it, and their own validation said the model was near-perfect.</a:t>
            </a:r>
          </a:p>
          <a:p>
            <a:pPr algn="l">
              <a:spcAft>
                <a:spcPts val="800"/>
              </a:spcAft>
            </a:pPr>
            <a:r>
              <a:rPr sz="2000" b="1">
                <a:solidFill>
                  <a:srgbClr val="1F2A44"/>
                </a:solidFill>
                <a:latin typeface="Calibri"/>
              </a:rPr>
              <a:t>Time leak (first_submission_date): </a:t>
            </a:r>
            <a:r>
              <a:rPr sz="2000" b="0">
                <a:solidFill>
                  <a:srgbClr val="1F2A44"/>
                </a:solidFill>
                <a:latin typeface="Calibri"/>
              </a:rPr>
              <a:t>test_future AUC moved by at most 0.0009: every future date lies past the training dates, and classes are 50/50 in every week.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31520"/>
          </a:xfrm>
          <a:prstGeom prst="rect">
            <a:avLst/>
          </a:prstGeom>
          <a:noFill/>
        </p:spPr>
        <p:txBody>
          <a:bodyPr wrap="square" anchor="ctr">
            <a:spAutoFit/>
          </a:bodyPr>
          <a:lstStyle/>
          <a:p>
            <a:pPr algn="l">
              <a:spcAft>
                <a:spcPts val="800"/>
              </a:spcAft>
            </a:pPr>
            <a:r>
              <a:rPr sz="3000" b="1">
                <a:solidFill>
                  <a:srgbClr val="FFFFFF"/>
                </a:solidFill>
                <a:latin typeface="Calibri"/>
              </a:rPr>
              <a:t>Explainability: what the tuned model looks at (SHAP)</a:t>
            </a:r>
          </a:p>
        </p:txBody>
      </p:sp>
      <p:sp>
        <p:nvSpPr>
          <p:cNvPr id="4" name="TextBox 3"/>
          <p:cNvSpPr txBox="1"/>
          <p:nvPr/>
        </p:nvSpPr>
        <p:spPr>
          <a:xfrm>
            <a:off x="457200" y="6446520"/>
            <a:ext cx="11277295" cy="320040"/>
          </a:xfrm>
          <a:prstGeom prst="rect">
            <a:avLst/>
          </a:prstGeom>
          <a:noFill/>
        </p:spPr>
        <p:txBody>
          <a:bodyPr wrap="square" anchor="t">
            <a:spAutoFit/>
          </a:bodyPr>
          <a:lstStyle/>
          <a:p>
            <a:pPr algn="l">
              <a:spcAft>
                <a:spcPts val="800"/>
              </a:spcAft>
            </a:pPr>
            <a:r>
              <a:rPr sz="1200" b="0">
                <a:solidFill>
                  <a:srgbClr val="5F6673"/>
                </a:solidFill>
                <a:latin typeface="Calibri"/>
              </a:rPr>
              <a:t>Source: reports/figures/shap_family_bar.png, tables/shap_*.csv, leakage.csv, bias_slices.csv</a:t>
            </a:r>
          </a:p>
        </p:txBody>
      </p:sp>
      <p:pic>
        <p:nvPicPr>
          <p:cNvPr id="5" name="Picture 4" descr="image.png"/>
          <p:cNvPicPr>
            <a:picLocks noChangeAspect="1"/>
          </p:cNvPicPr>
          <p:nvPr/>
        </p:nvPicPr>
        <p:blipFill>
          <a:blip r:embed="rId3"/>
          <a:stretch>
            <a:fillRect/>
          </a:stretch>
        </p:blipFill>
        <p:spPr>
          <a:xfrm>
            <a:off x="457200" y="1813769"/>
            <a:ext cx="5852160" cy="3687662"/>
          </a:xfrm>
          <a:prstGeom prst="rect">
            <a:avLst/>
          </a:prstGeom>
        </p:spPr>
      </p:pic>
      <p:sp>
        <p:nvSpPr>
          <p:cNvPr id="6" name="TextBox 5"/>
          <p:cNvSpPr txBox="1"/>
          <p:nvPr/>
        </p:nvSpPr>
        <p:spPr>
          <a:xfrm>
            <a:off x="6583680" y="1188720"/>
            <a:ext cx="5120640" cy="5120640"/>
          </a:xfrm>
          <a:prstGeom prst="rect">
            <a:avLst/>
          </a:prstGeom>
          <a:noFill/>
        </p:spPr>
        <p:txBody>
          <a:bodyPr wrap="square" anchor="t">
            <a:spAutoFit/>
          </a:bodyPr>
          <a:lstStyle/>
          <a:p>
            <a:pPr algn="l">
              <a:spcAft>
                <a:spcPts val="800"/>
              </a:spcAft>
            </a:pPr>
            <a:r>
              <a:rPr sz="1900" b="1">
                <a:solidFill>
                  <a:srgbClr val="1F2A44"/>
                </a:solidFill>
                <a:latin typeface="Calibri"/>
              </a:rPr>
              <a:t>Top families: </a:t>
            </a:r>
            <a:r>
              <a:rPr sz="1900" b="0">
                <a:solidFill>
                  <a:srgbClr val="1F2A44"/>
                </a:solidFill>
                <a:latin typeface="Calibri"/>
              </a:rPr>
              <a:t>strings 17%, imports 15%, histogram 13%.</a:t>
            </a:r>
          </a:p>
          <a:p>
            <a:pPr algn="l">
              <a:spcAft>
                <a:spcPts val="800"/>
              </a:spcAft>
            </a:pPr>
            <a:r>
              <a:rPr sz="1900" b="1">
                <a:solidFill>
                  <a:srgbClr val="1F2A44"/>
                </a:solidFill>
                <a:latin typeface="Calibri"/>
              </a:rPr>
              <a:t>Top features: </a:t>
            </a:r>
            <a:r>
              <a:rPr sz="1900" b="0">
                <a:solidFill>
                  <a:srgbClr val="1F2A44"/>
                </a:solidFill>
                <a:latin typeface="Calibri"/>
              </a:rPr>
              <a:t>header: coff.char.DLL; authenticode: latest_signing_time; datadirectories: EXPORT.size.</a:t>
            </a:r>
          </a:p>
          <a:p>
            <a:pPr algn="l">
              <a:spcAft>
                <a:spcPts val="800"/>
              </a:spcAft>
            </a:pPr>
            <a:r>
              <a:rPr sz="1900" b="1">
                <a:solidFill>
                  <a:srgbClr val="1F2A44"/>
                </a:solidFill>
                <a:latin typeface="Calibri"/>
              </a:rPr>
              <a:t>Time proxies are not a hidden leak: </a:t>
            </a:r>
            <a:r>
              <a:rPr sz="1900" b="0">
                <a:solidFill>
                  <a:srgbClr val="1F2A44"/>
                </a:solidFill>
                <a:latin typeface="Calibri"/>
              </a:rPr>
              <a:t>AUC gap 0.00101 with them, 0.00107 without.</a:t>
            </a:r>
          </a:p>
          <a:p>
            <a:pPr algn="l">
              <a:spcAft>
                <a:spcPts val="800"/>
              </a:spcAft>
            </a:pPr>
            <a:r>
              <a:rPr sz="1900" b="1">
                <a:solidFill>
                  <a:srgbClr val="1F2A44"/>
                </a:solidFill>
                <a:latin typeface="Calibri"/>
              </a:rPr>
              <a:t>Signatures are an attack surface: </a:t>
            </a:r>
            <a:r>
              <a:rPr sz="1900" b="0">
                <a:solidFill>
                  <a:srgbClr val="1F2A44"/>
                </a:solidFill>
                <a:latin typeface="Calibri"/>
              </a:rPr>
              <a:t>signed malware caught 83.7% vs 98.6% unsigned (test_future).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31520"/>
          </a:xfrm>
          <a:prstGeom prst="rect">
            <a:avLst/>
          </a:prstGeom>
          <a:noFill/>
        </p:spPr>
        <p:txBody>
          <a:bodyPr wrap="square" anchor="ctr">
            <a:spAutoFit/>
          </a:bodyPr>
          <a:lstStyle/>
          <a:p>
            <a:pPr algn="l">
              <a:spcAft>
                <a:spcPts val="800"/>
              </a:spcAft>
            </a:pPr>
            <a:r>
              <a:rPr sz="3000" b="1">
                <a:solidFill>
                  <a:srgbClr val="FFFFFF"/>
                </a:solidFill>
                <a:latin typeface="Calibri"/>
              </a:rPr>
              <a:t>Step 5: deployment demo (FastAPI + Streamlit)</a:t>
            </a:r>
          </a:p>
        </p:txBody>
      </p:sp>
      <p:sp>
        <p:nvSpPr>
          <p:cNvPr id="4" name="TextBox 3"/>
          <p:cNvSpPr txBox="1"/>
          <p:nvPr/>
        </p:nvSpPr>
        <p:spPr>
          <a:xfrm>
            <a:off x="457200" y="6446520"/>
            <a:ext cx="11277295" cy="320040"/>
          </a:xfrm>
          <a:prstGeom prst="rect">
            <a:avLst/>
          </a:prstGeom>
          <a:noFill/>
        </p:spPr>
        <p:txBody>
          <a:bodyPr wrap="square" anchor="t">
            <a:spAutoFit/>
          </a:bodyPr>
          <a:lstStyle/>
          <a:p>
            <a:pPr algn="l">
              <a:spcAft>
                <a:spcPts val="800"/>
              </a:spcAft>
            </a:pPr>
            <a:r>
              <a:rPr sz="1200" b="0">
                <a:solidFill>
                  <a:srgbClr val="5F6673"/>
                </a:solidFill>
                <a:latin typeface="Calibri"/>
              </a:rPr>
              <a:t>Source: reports/screenshots/a_malicious_correct.png, models/threshold.json, app/api.py, MODEL_CARD.md</a:t>
            </a:r>
          </a:p>
        </p:txBody>
      </p:sp>
      <p:pic>
        <p:nvPicPr>
          <p:cNvPr id="5" name="Picture 4" descr="image.png"/>
          <p:cNvPicPr>
            <a:picLocks noChangeAspect="1"/>
          </p:cNvPicPr>
          <p:nvPr/>
        </p:nvPicPr>
        <p:blipFill>
          <a:blip r:embed="rId3"/>
          <a:stretch>
            <a:fillRect/>
          </a:stretch>
        </p:blipFill>
        <p:spPr>
          <a:xfrm>
            <a:off x="600611" y="1051560"/>
            <a:ext cx="6113977" cy="5303520"/>
          </a:xfrm>
          <a:prstGeom prst="rect">
            <a:avLst/>
          </a:prstGeom>
        </p:spPr>
      </p:pic>
      <p:sp>
        <p:nvSpPr>
          <p:cNvPr id="6" name="TextBox 5"/>
          <p:cNvSpPr txBox="1"/>
          <p:nvPr/>
        </p:nvSpPr>
        <p:spPr>
          <a:xfrm>
            <a:off x="7132320" y="1188720"/>
            <a:ext cx="4572000" cy="5120640"/>
          </a:xfrm>
          <a:prstGeom prst="rect">
            <a:avLst/>
          </a:prstGeom>
          <a:noFill/>
        </p:spPr>
        <p:txBody>
          <a:bodyPr wrap="square" anchor="t">
            <a:spAutoFit/>
          </a:bodyPr>
          <a:lstStyle/>
          <a:p>
            <a:pPr algn="l">
              <a:spcAft>
                <a:spcPts val="800"/>
              </a:spcAft>
            </a:pPr>
            <a:r>
              <a:rPr sz="1900" b="1">
                <a:solidFill>
                  <a:srgbClr val="1F2A44"/>
                </a:solidFill>
                <a:latin typeface="Calibri"/>
              </a:rPr>
              <a:t>API: </a:t>
            </a:r>
            <a:r>
              <a:rPr sz="1900" b="0">
                <a:solidFill>
                  <a:srgbClr val="1F2A44"/>
                </a:solidFill>
                <a:latin typeface="Calibri"/>
              </a:rPr>
              <a:t>GET /health, POST /predict, POST /predict_batch, POST /predict_file.</a:t>
            </a:r>
          </a:p>
          <a:p>
            <a:pPr algn="l">
              <a:spcAft>
                <a:spcPts val="800"/>
              </a:spcAft>
            </a:pPr>
            <a:r>
              <a:rPr sz="1900" b="1">
                <a:solidFill>
                  <a:srgbClr val="1F2A44"/>
                </a:solidFill>
                <a:latin typeface="Calibri"/>
              </a:rPr>
              <a:t>App: </a:t>
            </a:r>
            <a:r>
              <a:rPr sz="1900" b="0">
                <a:solidFill>
                  <a:srgbClr val="1F2A44"/>
                </a:solidFill>
                <a:latin typeface="Calibri"/>
              </a:rPr>
              <a:t>one page: pick an example or upload a PE; shows the verdict and the top reasons (SHAP) in plain words.</a:t>
            </a:r>
          </a:p>
          <a:p>
            <a:pPr algn="l">
              <a:spcAft>
                <a:spcPts val="800"/>
              </a:spcAft>
            </a:pPr>
            <a:r>
              <a:rPr sz="1900" b="1">
                <a:solidFill>
                  <a:srgbClr val="1F2A44"/>
                </a:solidFill>
                <a:latin typeface="Calibri"/>
              </a:rPr>
              <a:t>Threshold 0.0069: </a:t>
            </a:r>
            <a:r>
              <a:rPr sz="1900" b="0">
                <a:solidFill>
                  <a:srgbClr val="1F2A44"/>
                </a:solidFill>
                <a:latin typeface="Calibri"/>
              </a:rPr>
              <a:t>missed malware costs 10x a false alarm, set on train out-of-fold scores.</a:t>
            </a:r>
          </a:p>
          <a:p>
            <a:pPr algn="l">
              <a:spcAft>
                <a:spcPts val="800"/>
              </a:spcAft>
            </a:pPr>
            <a:r>
              <a:rPr sz="1900" b="1">
                <a:solidFill>
                  <a:srgbClr val="1F2A44"/>
                </a:solidFill>
                <a:latin typeface="Calibri"/>
              </a:rPr>
              <a:t>On test_future: </a:t>
            </a:r>
            <a:r>
              <a:rPr sz="1900" b="0">
                <a:solidFill>
                  <a:srgbClr val="1F2A44"/>
                </a:solidFill>
                <a:latin typeface="Calibri"/>
              </a:rPr>
              <a:t>recall 99.5%, FPR 7.4%; at 1% malware ~12% precision, so triage, not blocking.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31520"/>
          </a:xfrm>
          <a:prstGeom prst="rect">
            <a:avLst/>
          </a:prstGeom>
          <a:noFill/>
        </p:spPr>
        <p:txBody>
          <a:bodyPr wrap="square" anchor="ctr">
            <a:spAutoFit/>
          </a:bodyPr>
          <a:lstStyle/>
          <a:p>
            <a:pPr algn="l">
              <a:spcAft>
                <a:spcPts val="800"/>
              </a:spcAft>
            </a:pPr>
            <a:r>
              <a:rPr sz="3000" b="1">
                <a:solidFill>
                  <a:srgbClr val="FFFFFF"/>
                </a:solidFill>
                <a:latin typeface="Calibri"/>
              </a:rPr>
              <a:t>Takeaways and limitations</a:t>
            </a:r>
          </a:p>
        </p:txBody>
      </p:sp>
      <p:sp>
        <p:nvSpPr>
          <p:cNvPr id="4" name="TextBox 3"/>
          <p:cNvSpPr txBox="1"/>
          <p:nvPr/>
        </p:nvSpPr>
        <p:spPr>
          <a:xfrm>
            <a:off x="457200" y="6446520"/>
            <a:ext cx="11277295" cy="320040"/>
          </a:xfrm>
          <a:prstGeom prst="rect">
            <a:avLst/>
          </a:prstGeom>
          <a:noFill/>
        </p:spPr>
        <p:txBody>
          <a:bodyPr wrap="square" anchor="t">
            <a:spAutoFit/>
          </a:bodyPr>
          <a:lstStyle/>
          <a:p>
            <a:pPr algn="l">
              <a:spcAft>
                <a:spcPts val="800"/>
              </a:spcAft>
            </a:pPr>
            <a:r>
              <a:rPr sz="1200" b="0">
                <a:solidFill>
                  <a:srgbClr val="5F6673"/>
                </a:solidFill>
                <a:latin typeface="Calibri"/>
              </a:rPr>
              <a:t>Source: reports/critical_eval.md, reports/limitations.md</a:t>
            </a:r>
          </a:p>
        </p:txBody>
      </p:sp>
      <p:sp>
        <p:nvSpPr>
          <p:cNvPr id="5" name="TextBox 4"/>
          <p:cNvSpPr txBox="1"/>
          <p:nvPr/>
        </p:nvSpPr>
        <p:spPr>
          <a:xfrm>
            <a:off x="457200" y="1097280"/>
            <a:ext cx="6035040" cy="457200"/>
          </a:xfrm>
          <a:prstGeom prst="rect">
            <a:avLst/>
          </a:prstGeom>
          <a:noFill/>
        </p:spPr>
        <p:txBody>
          <a:bodyPr wrap="square" anchor="t">
            <a:spAutoFit/>
          </a:bodyPr>
          <a:lstStyle/>
          <a:p>
            <a:pPr algn="l">
              <a:spcAft>
                <a:spcPts val="800"/>
              </a:spcAft>
            </a:pPr>
            <a:r>
              <a:rPr sz="2400" b="1">
                <a:solidFill>
                  <a:srgbClr val="E06C2F"/>
                </a:solidFill>
                <a:latin typeface="Calibri"/>
              </a:rPr>
              <a:t>Takeaways</a:t>
            </a:r>
          </a:p>
        </p:txBody>
      </p:sp>
      <p:sp>
        <p:nvSpPr>
          <p:cNvPr id="6" name="TextBox 5"/>
          <p:cNvSpPr txBox="1"/>
          <p:nvPr/>
        </p:nvSpPr>
        <p:spPr>
          <a:xfrm>
            <a:off x="457200" y="1645920"/>
            <a:ext cx="6035040" cy="4663440"/>
          </a:xfrm>
          <a:prstGeom prst="rect">
            <a:avLst/>
          </a:prstGeom>
          <a:noFill/>
        </p:spPr>
        <p:txBody>
          <a:bodyPr wrap="square" anchor="t">
            <a:spAutoFit/>
          </a:bodyPr>
          <a:lstStyle/>
          <a:p>
            <a:pPr algn="l" marL="217170" indent="-217170">
              <a:spcAft>
                <a:spcPts val="800"/>
              </a:spcAft>
              <a:buChar char="•"/>
            </a:pPr>
            <a:r>
              <a:rPr sz="1900" b="0">
                <a:solidFill>
                  <a:srgbClr val="1F2A44"/>
                </a:solidFill>
                <a:latin typeface="Calibri"/>
              </a:rPr>
              <a:t>AutoGluon matched tuned LightGBM (AUC 0.9980 vs 0.9981) in 20.2 vs 76.0 min.</a:t>
            </a:r>
          </a:p>
          <a:p>
            <a:pPr algn="l" marL="217170" indent="-217170">
              <a:spcAft>
                <a:spcPts val="800"/>
              </a:spcAft>
              <a:buChar char="•"/>
            </a:pPr>
            <a:r>
              <a:rPr sz="1900" b="0">
                <a:solidFill>
                  <a:srgbClr val="1F2A44"/>
                </a:solidFill>
                <a:latin typeface="Calibri"/>
              </a:rPr>
              <a:t>The random split overstates little by AUC (0.0010); the 50/50 test mix overstates a lot: precision 98.8% vs 44.7% at 1% malware on future files.</a:t>
            </a:r>
          </a:p>
          <a:p>
            <a:pPr algn="l" marL="217170" indent="-217170">
              <a:spcAft>
                <a:spcPts val="800"/>
              </a:spcAft>
              <a:buChar char="•"/>
            </a:pPr>
            <a:r>
              <a:rPr sz="1900" b="0">
                <a:solidFill>
                  <a:srgbClr val="1F2A44"/>
                </a:solidFill>
                <a:latin typeface="Calibri"/>
              </a:rPr>
              <a:t>No AutoML tool caught the label leak.</a:t>
            </a:r>
          </a:p>
          <a:p>
            <a:pPr algn="l" marL="217170" indent="-217170">
              <a:spcAft>
                <a:spcPts val="800"/>
              </a:spcAft>
              <a:buChar char="•"/>
            </a:pPr>
            <a:r>
              <a:rPr sz="1900" b="0">
                <a:solidFill>
                  <a:srgbClr val="1F2A44"/>
                </a:solidFill>
                <a:latin typeface="Calibri"/>
              </a:rPr>
              <a:t>The hard tail: 53.7% of challenge-set malware caught at 1% FPR (79.9% at the deployed threshold).</a:t>
            </a:r>
          </a:p>
        </p:txBody>
      </p:sp>
      <p:sp>
        <p:nvSpPr>
          <p:cNvPr id="7" name="TextBox 6"/>
          <p:cNvSpPr txBox="1"/>
          <p:nvPr/>
        </p:nvSpPr>
        <p:spPr>
          <a:xfrm>
            <a:off x="6766560" y="1097280"/>
            <a:ext cx="4937760" cy="457200"/>
          </a:xfrm>
          <a:prstGeom prst="rect">
            <a:avLst/>
          </a:prstGeom>
          <a:noFill/>
        </p:spPr>
        <p:txBody>
          <a:bodyPr wrap="square" anchor="t">
            <a:spAutoFit/>
          </a:bodyPr>
          <a:lstStyle/>
          <a:p>
            <a:pPr algn="l">
              <a:spcAft>
                <a:spcPts val="800"/>
              </a:spcAft>
            </a:pPr>
            <a:r>
              <a:rPr sz="2400" b="1">
                <a:solidFill>
                  <a:srgbClr val="E06C2F"/>
                </a:solidFill>
                <a:latin typeface="Calibri"/>
              </a:rPr>
              <a:t>Limitations</a:t>
            </a:r>
          </a:p>
        </p:txBody>
      </p:sp>
      <p:sp>
        <p:nvSpPr>
          <p:cNvPr id="8" name="TextBox 7"/>
          <p:cNvSpPr txBox="1"/>
          <p:nvPr/>
        </p:nvSpPr>
        <p:spPr>
          <a:xfrm>
            <a:off x="6766560" y="1645920"/>
            <a:ext cx="4937760" cy="4663440"/>
          </a:xfrm>
          <a:prstGeom prst="rect">
            <a:avLst/>
          </a:prstGeom>
          <a:noFill/>
        </p:spPr>
        <p:txBody>
          <a:bodyPr wrap="square" anchor="t">
            <a:spAutoFit/>
          </a:bodyPr>
          <a:lstStyle/>
          <a:p>
            <a:pPr algn="l" marL="217170" indent="-217170">
              <a:spcAft>
                <a:spcPts val="800"/>
              </a:spcAft>
              <a:buChar char="•"/>
            </a:pPr>
            <a:r>
              <a:rPr sz="1900" b="0">
                <a:solidFill>
                  <a:srgbClr val="1F2A44"/>
                </a:solidFill>
                <a:latin typeface="Calibri"/>
              </a:rPr>
              <a:t>Static features only; packed or modified files can evade.</a:t>
            </a:r>
          </a:p>
          <a:p>
            <a:pPr algn="l" marL="217170" indent="-217170">
              <a:spcAft>
                <a:spcPts val="800"/>
              </a:spcAft>
              <a:buChar char="•"/>
            </a:pPr>
            <a:r>
              <a:rPr sz="1900" b="0">
                <a:solidFill>
                  <a:srgbClr val="1F2A44"/>
                </a:solidFill>
                <a:latin typeface="Calibri"/>
              </a:rPr>
              <a:t>50/50 classes; real prevalence is unknown.</a:t>
            </a:r>
          </a:p>
          <a:p>
            <a:pPr algn="l" marL="217170" indent="-217170">
              <a:spcAft>
                <a:spcPts val="800"/>
              </a:spcAft>
              <a:buChar char="•"/>
            </a:pPr>
            <a:r>
              <a:rPr sz="1900" b="0">
                <a:solidFill>
                  <a:srgbClr val="1F2A44"/>
                </a:solidFill>
                <a:latin typeface="Calibri"/>
              </a:rPr>
              <a:t>12 future weeks; one seed; no adversarial test.</a:t>
            </a:r>
          </a:p>
          <a:p>
            <a:pPr algn="l" marL="217170" indent="-217170">
              <a:spcAft>
                <a:spcPts val="800"/>
              </a:spcAft>
              <a:buChar char="•"/>
            </a:pPr>
            <a:r>
              <a:rPr sz="1900" b="0">
                <a:solidFill>
                  <a:srgbClr val="1F2A44"/>
                </a:solidFill>
                <a:latin typeface="Calibri"/>
              </a:rPr>
              <a:t>Step 4 ran on a 4-core / 15.7 GiB cloud VM (600 s AutoML budget), Steps 2-3 on the 16-core laptop.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